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ptos Bold" charset="1" panose="020B0004020202020204"/>
      <p:regular r:id="rId17"/>
    </p:embeddedFont>
    <p:embeddedFont>
      <p:font typeface="Aptos" charset="1" panose="020B00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1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306593" cy="10306050"/>
            <a:chOff x="0" y="0"/>
            <a:chExt cx="2440879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153147"/>
            </a:solidFill>
            <a:ln w="19050" cap="sq">
              <a:solidFill>
                <a:srgbClr val="15314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642" cy="10306050"/>
            <a:chOff x="0" y="0"/>
            <a:chExt cx="244856" cy="137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85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440180"/>
            <a:ext cx="10698480" cy="795528"/>
            <a:chOff x="0" y="0"/>
            <a:chExt cx="14264640" cy="10607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264639" cy="1060704"/>
            </a:xfrm>
            <a:custGeom>
              <a:avLst/>
              <a:gdLst/>
              <a:ahLst/>
              <a:cxnLst/>
              <a:rect r="r" b="b" t="t" l="l"/>
              <a:pathLst>
                <a:path h="1060704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040" r="0" b="-2120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4264640" cy="1051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80"/>
                </a:lnSpc>
              </a:pPr>
              <a:r>
                <a:rPr lang="en-US" sz="46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UPAR Challenge 2027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2496312"/>
            <a:ext cx="14813280" cy="713232"/>
            <a:chOff x="0" y="0"/>
            <a:chExt cx="19751040" cy="9509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51039" cy="950976"/>
            </a:xfrm>
            <a:custGeom>
              <a:avLst/>
              <a:gdLst/>
              <a:ahLst/>
              <a:cxnLst/>
              <a:rect r="r" b="b" t="t" l="l"/>
              <a:pathLst>
                <a:path h="950976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689" r="0" b="-35468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75104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CDE8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Track 1 — Pedestrian Attribute Recognition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69848" y="3497580"/>
            <a:ext cx="12893040" cy="754380"/>
            <a:chOff x="0" y="0"/>
            <a:chExt cx="1719072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1907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017" r="0" b="-28301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719072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D8E2E8"/>
                  </a:solidFill>
                  <a:latin typeface="Aptos"/>
                  <a:ea typeface="Aptos"/>
                  <a:cs typeface="Aptos"/>
                  <a:sym typeface="Aptos"/>
                </a:rPr>
                <a:t>Fine-tuning an ImageNet-pretrained ResNet-50 for 40 pedestrian attributes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0323" y="4722495"/>
            <a:ext cx="2556510" cy="512826"/>
            <a:chOff x="0" y="0"/>
            <a:chExt cx="3408680" cy="6837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08680" cy="683768"/>
            </a:xfrm>
            <a:custGeom>
              <a:avLst/>
              <a:gdLst/>
              <a:ahLst/>
              <a:cxnLst/>
              <a:rect r="r" b="b" t="t" l="l"/>
              <a:pathLst>
                <a:path h="683768" w="340868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3256788" y="0"/>
                  </a:lnTo>
                  <a:cubicBezTo>
                    <a:pt x="3340735" y="0"/>
                    <a:pt x="3408680" y="68072"/>
                    <a:pt x="3408680" y="151892"/>
                  </a:cubicBezTo>
                  <a:lnTo>
                    <a:pt x="3408680" y="531876"/>
                  </a:lnTo>
                  <a:cubicBezTo>
                    <a:pt x="3408680" y="615823"/>
                    <a:pt x="3340608" y="683768"/>
                    <a:pt x="325678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21465A"/>
            </a:solidFill>
            <a:ln w="19050" cap="sq">
              <a:solidFill>
                <a:srgbClr val="21465A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79576" y="4828032"/>
            <a:ext cx="2318004" cy="246888"/>
            <a:chOff x="0" y="0"/>
            <a:chExt cx="3090672" cy="3291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90672" cy="329184"/>
            </a:xfrm>
            <a:custGeom>
              <a:avLst/>
              <a:gdLst/>
              <a:ahLst/>
              <a:cxnLst/>
              <a:rect r="r" b="b" t="t" l="l"/>
              <a:pathLst>
                <a:path h="329184" w="3090672">
                  <a:moveTo>
                    <a:pt x="0" y="0"/>
                  </a:moveTo>
                  <a:lnTo>
                    <a:pt x="3090672" y="0"/>
                  </a:lnTo>
                  <a:lnTo>
                    <a:pt x="309067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942" r="0" b="-13294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09067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97,669 train images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03523" y="4722495"/>
            <a:ext cx="2967990" cy="512826"/>
            <a:chOff x="0" y="0"/>
            <a:chExt cx="3957320" cy="6837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57320" cy="683768"/>
            </a:xfrm>
            <a:custGeom>
              <a:avLst/>
              <a:gdLst/>
              <a:ahLst/>
              <a:cxnLst/>
              <a:rect r="r" b="b" t="t" l="l"/>
              <a:pathLst>
                <a:path h="683768" w="395732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3805428" y="0"/>
                  </a:lnTo>
                  <a:cubicBezTo>
                    <a:pt x="3889375" y="0"/>
                    <a:pt x="3957320" y="68072"/>
                    <a:pt x="3957320" y="151892"/>
                  </a:cubicBezTo>
                  <a:lnTo>
                    <a:pt x="3957320" y="531876"/>
                  </a:lnTo>
                  <a:cubicBezTo>
                    <a:pt x="3957320" y="615823"/>
                    <a:pt x="3889248" y="683768"/>
                    <a:pt x="380542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21465A"/>
            </a:solidFill>
            <a:ln w="19050" cap="sq">
              <a:solidFill>
                <a:srgbClr val="21465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3922776" y="4828032"/>
            <a:ext cx="2729484" cy="246888"/>
            <a:chOff x="0" y="0"/>
            <a:chExt cx="3639312" cy="329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39312" cy="329184"/>
            </a:xfrm>
            <a:custGeom>
              <a:avLst/>
              <a:gdLst/>
              <a:ahLst/>
              <a:cxnLst/>
              <a:rect r="r" b="b" t="t" l="l"/>
              <a:pathLst>
                <a:path h="329184" w="3639312">
                  <a:moveTo>
                    <a:pt x="0" y="0"/>
                  </a:moveTo>
                  <a:lnTo>
                    <a:pt x="3639312" y="0"/>
                  </a:lnTo>
                  <a:lnTo>
                    <a:pt x="363931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417" r="0" b="-16541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63931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33,407 validation images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958203" y="4722495"/>
            <a:ext cx="2007870" cy="512826"/>
            <a:chOff x="0" y="0"/>
            <a:chExt cx="2677160" cy="6837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77160" cy="683768"/>
            </a:xfrm>
            <a:custGeom>
              <a:avLst/>
              <a:gdLst/>
              <a:ahLst/>
              <a:cxnLst/>
              <a:rect r="r" b="b" t="t" l="l"/>
              <a:pathLst>
                <a:path h="683768" w="267716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2525268" y="0"/>
                  </a:lnTo>
                  <a:cubicBezTo>
                    <a:pt x="2609215" y="0"/>
                    <a:pt x="2677160" y="68072"/>
                    <a:pt x="2677160" y="151892"/>
                  </a:cubicBezTo>
                  <a:lnTo>
                    <a:pt x="2677160" y="531876"/>
                  </a:lnTo>
                  <a:cubicBezTo>
                    <a:pt x="2677160" y="615823"/>
                    <a:pt x="2609088" y="683768"/>
                    <a:pt x="252526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21465A"/>
            </a:solidFill>
            <a:ln w="19050" cap="sq">
              <a:solidFill>
                <a:srgbClr val="21465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077456" y="4828032"/>
            <a:ext cx="1769364" cy="246888"/>
            <a:chOff x="0" y="0"/>
            <a:chExt cx="2359152" cy="3291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59152" cy="329184"/>
            </a:xfrm>
            <a:custGeom>
              <a:avLst/>
              <a:gdLst/>
              <a:ahLst/>
              <a:cxnLst/>
              <a:rect r="r" b="b" t="t" l="l"/>
              <a:pathLst>
                <a:path h="329184" w="2359152">
                  <a:moveTo>
                    <a:pt x="0" y="0"/>
                  </a:moveTo>
                  <a:lnTo>
                    <a:pt x="2359152" y="0"/>
                  </a:lnTo>
                  <a:lnTo>
                    <a:pt x="235915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35915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40 attributes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52763" y="4722495"/>
            <a:ext cx="2899410" cy="512826"/>
            <a:chOff x="0" y="0"/>
            <a:chExt cx="3865880" cy="6837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65880" cy="683768"/>
            </a:xfrm>
            <a:custGeom>
              <a:avLst/>
              <a:gdLst/>
              <a:ahLst/>
              <a:cxnLst/>
              <a:rect r="r" b="b" t="t" l="l"/>
              <a:pathLst>
                <a:path h="683768" w="386588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3713988" y="0"/>
                  </a:lnTo>
                  <a:cubicBezTo>
                    <a:pt x="3797935" y="0"/>
                    <a:pt x="3865880" y="68072"/>
                    <a:pt x="3865880" y="151892"/>
                  </a:cubicBezTo>
                  <a:lnTo>
                    <a:pt x="3865880" y="531876"/>
                  </a:lnTo>
                  <a:cubicBezTo>
                    <a:pt x="3865880" y="615823"/>
                    <a:pt x="3797808" y="683768"/>
                    <a:pt x="371398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204F4E"/>
            </a:solidFill>
            <a:ln w="19050" cap="sq">
              <a:solidFill>
                <a:srgbClr val="204F4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272016" y="4828032"/>
            <a:ext cx="2660904" cy="246888"/>
            <a:chOff x="0" y="0"/>
            <a:chExt cx="3547872" cy="3291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47872" cy="329184"/>
            </a:xfrm>
            <a:custGeom>
              <a:avLst/>
              <a:gdLst/>
              <a:ahLst/>
              <a:cxnLst/>
              <a:rect r="r" b="b" t="t" l="l"/>
              <a:pathLst>
                <a:path h="329184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005" r="0" b="-1600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54787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Official score: 0.7021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69848" y="7612380"/>
            <a:ext cx="7818120" cy="480060"/>
            <a:chOff x="0" y="0"/>
            <a:chExt cx="1042416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24160" cy="640080"/>
            </a:xfrm>
            <a:custGeom>
              <a:avLst/>
              <a:gdLst/>
              <a:ahLst/>
              <a:cxnLst/>
              <a:rect r="r" b="b" t="t" l="l"/>
              <a:pathLst>
                <a:path h="6400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327" r="0" b="-26732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42416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Prepared by Haris Ahmed &amp; Huzaifa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69848" y="8202168"/>
            <a:ext cx="6172200" cy="411480"/>
            <a:chOff x="0" y="0"/>
            <a:chExt cx="82296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82296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FC1CE"/>
                  </a:solidFill>
                  <a:latin typeface="Aptos"/>
                  <a:ea typeface="Aptos"/>
                  <a:cs typeface="Aptos"/>
                  <a:sym typeface="Aptos"/>
                </a:rPr>
                <a:t>Computer Vision Assignment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69848" y="8983980"/>
            <a:ext cx="7955280" cy="411480"/>
            <a:chOff x="0" y="0"/>
            <a:chExt cx="1060704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07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0607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EABB8"/>
                  </a:solidFill>
                  <a:latin typeface="Aptos"/>
                  <a:ea typeface="Aptos"/>
                  <a:cs typeface="Aptos"/>
                  <a:sym typeface="Aptos"/>
                </a:rPr>
                <a:t>WACV 2027 • Real World Surveillance Workshop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294995" y="1499235"/>
            <a:ext cx="238506" cy="238506"/>
            <a:chOff x="0" y="0"/>
            <a:chExt cx="318008" cy="3180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460855" y="1499235"/>
            <a:ext cx="238506" cy="238506"/>
            <a:chOff x="0" y="0"/>
            <a:chExt cx="318008" cy="3180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F48A3C"/>
            </a:solidFill>
            <a:ln w="19050" cap="sq">
              <a:solidFill>
                <a:srgbClr val="F48A3C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5626715" y="1499235"/>
            <a:ext cx="238506" cy="238506"/>
            <a:chOff x="0" y="0"/>
            <a:chExt cx="318008" cy="31800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294995" y="3076575"/>
            <a:ext cx="238506" cy="238506"/>
            <a:chOff x="0" y="0"/>
            <a:chExt cx="318008" cy="3180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F48A3C"/>
            </a:solidFill>
            <a:ln w="19050" cap="sq">
              <a:solidFill>
                <a:srgbClr val="F48A3C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4460855" y="3076575"/>
            <a:ext cx="238506" cy="238506"/>
            <a:chOff x="0" y="0"/>
            <a:chExt cx="318008" cy="3180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5626715" y="3076575"/>
            <a:ext cx="238506" cy="238506"/>
            <a:chOff x="0" y="0"/>
            <a:chExt cx="318008" cy="31800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F48A3C"/>
            </a:solidFill>
            <a:ln w="19050" cap="sq">
              <a:solidFill>
                <a:srgbClr val="F48A3C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294995" y="4653915"/>
            <a:ext cx="238506" cy="238506"/>
            <a:chOff x="0" y="0"/>
            <a:chExt cx="318008" cy="3180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18008" cy="318008"/>
            </a:xfrm>
            <a:custGeom>
              <a:avLst/>
              <a:gdLst/>
              <a:ahLst/>
              <a:cxnLst/>
              <a:rect r="r" b="b" t="t" l="l"/>
              <a:pathLst>
                <a:path h="318008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cubicBezTo>
                    <a:pt x="318008" y="246761"/>
                    <a:pt x="246761" y="318008"/>
                    <a:pt x="159004" y="318008"/>
                  </a:cubicBez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sp>
        <p:nvSpPr>
          <p:cNvPr name="AutoShape 58" id="58"/>
          <p:cNvSpPr/>
          <p:nvPr/>
        </p:nvSpPr>
        <p:spPr>
          <a:xfrm rot="76860">
            <a:off x="13400761" y="1613726"/>
            <a:ext cx="1192825" cy="0"/>
          </a:xfrm>
          <a:prstGeom prst="line">
            <a:avLst/>
          </a:prstGeom>
          <a:ln cap="rnd" w="9525">
            <a:solidFill>
              <a:srgbClr val="3A65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 rot="3202200">
            <a:off x="14163665" y="2402396"/>
            <a:ext cx="1998745" cy="0"/>
          </a:xfrm>
          <a:prstGeom prst="line">
            <a:avLst/>
          </a:prstGeom>
          <a:ln cap="rnd" w="9525">
            <a:solidFill>
              <a:srgbClr val="3A65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 rot="3202200">
            <a:off x="12997805" y="2402396"/>
            <a:ext cx="1998745" cy="0"/>
          </a:xfrm>
          <a:prstGeom prst="line">
            <a:avLst/>
          </a:prstGeom>
          <a:ln cap="rnd" w="9525">
            <a:solidFill>
              <a:srgbClr val="3A65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 rot="76860">
            <a:off x="14566621" y="4768406"/>
            <a:ext cx="1192825" cy="0"/>
          </a:xfrm>
          <a:prstGeom prst="line">
            <a:avLst/>
          </a:prstGeom>
          <a:ln cap="rnd" w="9525">
            <a:solidFill>
              <a:srgbClr val="3A657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8778"/>
            <a:chOff x="0" y="0"/>
            <a:chExt cx="24408790" cy="1717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71704"/>
            </a:xfrm>
            <a:custGeom>
              <a:avLst/>
              <a:gdLst/>
              <a:ahLst/>
              <a:cxnLst/>
              <a:rect r="r" b="b" t="t" l="l"/>
              <a:pathLst>
                <a:path h="17170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9765792"/>
            <a:ext cx="6858000" cy="274320"/>
            <a:chOff x="0" y="0"/>
            <a:chExt cx="914400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1440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UPAR Challenge 2027 • Track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16000" y="9765792"/>
            <a:ext cx="3909060" cy="274320"/>
            <a:chOff x="0" y="0"/>
            <a:chExt cx="521208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12080" cy="365760"/>
            </a:xfrm>
            <a:custGeom>
              <a:avLst/>
              <a:gdLst/>
              <a:ahLst/>
              <a:cxnLst/>
              <a:rect r="r" b="b" t="t" l="l"/>
              <a:pathLst>
                <a:path h="3657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2120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Computer Vision Assignment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480060"/>
            <a:ext cx="16322040" cy="658368"/>
            <a:chOff x="0" y="0"/>
            <a:chExt cx="21762720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877824"/>
            </a:xfrm>
            <a:custGeom>
              <a:avLst/>
              <a:gdLst/>
              <a:ahLst/>
              <a:cxnLst/>
              <a:rect r="r" b="b" t="t" l="l"/>
              <a:pathLst>
                <a:path h="87782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066" r="0" b="-43306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7627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1. Problem &amp; Objective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1812" y="1179576"/>
            <a:ext cx="15773400" cy="411480"/>
            <a:chOff x="0" y="0"/>
            <a:chExt cx="210312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031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Multi-label pedestrian attribute recognition under domain shift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3435" y="1979295"/>
            <a:ext cx="5505450" cy="6465570"/>
            <a:chOff x="0" y="0"/>
            <a:chExt cx="7340600" cy="8620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40600" cy="8620760"/>
            </a:xfrm>
            <a:custGeom>
              <a:avLst/>
              <a:gdLst/>
              <a:ahLst/>
              <a:cxnLst/>
              <a:rect r="r" b="b" t="t" l="l"/>
              <a:pathLst>
                <a:path h="8620760" w="7340600">
                  <a:moveTo>
                    <a:pt x="0" y="91694"/>
                  </a:moveTo>
                  <a:cubicBezTo>
                    <a:pt x="0" y="41021"/>
                    <a:pt x="41021" y="0"/>
                    <a:pt x="91694" y="0"/>
                  </a:cubicBezTo>
                  <a:lnTo>
                    <a:pt x="7248779" y="0"/>
                  </a:lnTo>
                  <a:cubicBezTo>
                    <a:pt x="7299579" y="0"/>
                    <a:pt x="7340600" y="41021"/>
                    <a:pt x="7340600" y="91694"/>
                  </a:cubicBezTo>
                  <a:lnTo>
                    <a:pt x="7340600" y="8528939"/>
                  </a:lnTo>
                  <a:cubicBezTo>
                    <a:pt x="7340600" y="8579612"/>
                    <a:pt x="7299579" y="8620760"/>
                    <a:pt x="7248779" y="8620760"/>
                  </a:cubicBezTo>
                  <a:lnTo>
                    <a:pt x="91694" y="8620760"/>
                  </a:lnTo>
                  <a:cubicBezTo>
                    <a:pt x="41021" y="8620760"/>
                    <a:pt x="0" y="8579739"/>
                    <a:pt x="0" y="852893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13435" y="1979295"/>
            <a:ext cx="101346" cy="6465570"/>
            <a:chOff x="0" y="0"/>
            <a:chExt cx="135128" cy="8620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5128" cy="8620760"/>
            </a:xfrm>
            <a:custGeom>
              <a:avLst/>
              <a:gdLst/>
              <a:ahLst/>
              <a:cxnLst/>
              <a:rect r="r" b="b" t="t" l="l"/>
              <a:pathLst>
                <a:path h="862076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8620760"/>
                  </a:lnTo>
                  <a:lnTo>
                    <a:pt x="0" y="8620760"/>
                  </a:ln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24712" y="2235708"/>
            <a:ext cx="4992624" cy="384048"/>
            <a:chOff x="0" y="0"/>
            <a:chExt cx="6656832" cy="5120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56832" cy="512064"/>
            </a:xfrm>
            <a:custGeom>
              <a:avLst/>
              <a:gdLst/>
              <a:ahLst/>
              <a:cxnLst/>
              <a:rect r="r" b="b" t="t" l="l"/>
              <a:pathLst>
                <a:path h="512064" w="6656832">
                  <a:moveTo>
                    <a:pt x="0" y="0"/>
                  </a:moveTo>
                  <a:lnTo>
                    <a:pt x="6656832" y="0"/>
                  </a:lnTo>
                  <a:lnTo>
                    <a:pt x="665683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65683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Input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24969" y="2784605"/>
            <a:ext cx="4964687" cy="5458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2530"/>
                </a:solidFill>
                <a:latin typeface="Aptos"/>
                <a:ea typeface="Aptos"/>
                <a:cs typeface="Aptos"/>
                <a:sym typeface="Aptos"/>
              </a:rPr>
              <a:t>A cropped surveillance image containing a single pedestrian.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2530"/>
                </a:solidFill>
                <a:latin typeface="Aptos"/>
                <a:ea typeface="Aptos"/>
                <a:cs typeface="Aptos"/>
                <a:sym typeface="Aptos"/>
              </a:rPr>
              <a:t>Images vary in camera quality, pose, lighting, viewpoint and background.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05575" y="1979295"/>
            <a:ext cx="5505450" cy="6465570"/>
            <a:chOff x="0" y="0"/>
            <a:chExt cx="7340600" cy="8620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40600" cy="8620760"/>
            </a:xfrm>
            <a:custGeom>
              <a:avLst/>
              <a:gdLst/>
              <a:ahLst/>
              <a:cxnLst/>
              <a:rect r="r" b="b" t="t" l="l"/>
              <a:pathLst>
                <a:path h="8620760" w="7340600">
                  <a:moveTo>
                    <a:pt x="0" y="91694"/>
                  </a:moveTo>
                  <a:cubicBezTo>
                    <a:pt x="0" y="41021"/>
                    <a:pt x="41021" y="0"/>
                    <a:pt x="91694" y="0"/>
                  </a:cubicBezTo>
                  <a:lnTo>
                    <a:pt x="7248779" y="0"/>
                  </a:lnTo>
                  <a:cubicBezTo>
                    <a:pt x="7299579" y="0"/>
                    <a:pt x="7340600" y="41021"/>
                    <a:pt x="7340600" y="91694"/>
                  </a:cubicBezTo>
                  <a:lnTo>
                    <a:pt x="7340600" y="8528939"/>
                  </a:lnTo>
                  <a:cubicBezTo>
                    <a:pt x="7340600" y="8579612"/>
                    <a:pt x="7299579" y="8620760"/>
                    <a:pt x="7248779" y="8620760"/>
                  </a:cubicBezTo>
                  <a:lnTo>
                    <a:pt x="91694" y="8620760"/>
                  </a:lnTo>
                  <a:cubicBezTo>
                    <a:pt x="41021" y="8620760"/>
                    <a:pt x="0" y="8579739"/>
                    <a:pt x="0" y="852893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505575" y="1979295"/>
            <a:ext cx="101346" cy="6465570"/>
            <a:chOff x="0" y="0"/>
            <a:chExt cx="135128" cy="8620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5128" cy="8620760"/>
            </a:xfrm>
            <a:custGeom>
              <a:avLst/>
              <a:gdLst/>
              <a:ahLst/>
              <a:cxnLst/>
              <a:rect r="r" b="b" t="t" l="l"/>
              <a:pathLst>
                <a:path h="862076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8620760"/>
                  </a:lnTo>
                  <a:lnTo>
                    <a:pt x="0" y="8620760"/>
                  </a:lnTo>
                  <a:close/>
                </a:path>
              </a:pathLst>
            </a:custGeom>
            <a:solidFill>
              <a:srgbClr val="F48A3C"/>
            </a:solidFill>
            <a:ln w="19050" cap="sq">
              <a:solidFill>
                <a:srgbClr val="F48A3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816852" y="2235708"/>
            <a:ext cx="4992624" cy="384048"/>
            <a:chOff x="0" y="0"/>
            <a:chExt cx="6656832" cy="5120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56832" cy="512064"/>
            </a:xfrm>
            <a:custGeom>
              <a:avLst/>
              <a:gdLst/>
              <a:ahLst/>
              <a:cxnLst/>
              <a:rect r="r" b="b" t="t" l="l"/>
              <a:pathLst>
                <a:path h="512064" w="6656832">
                  <a:moveTo>
                    <a:pt x="0" y="0"/>
                  </a:moveTo>
                  <a:lnTo>
                    <a:pt x="6656832" y="0"/>
                  </a:lnTo>
                  <a:lnTo>
                    <a:pt x="665683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65683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Output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817109" y="2784605"/>
            <a:ext cx="4964687" cy="5458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2530"/>
                </a:solidFill>
                <a:latin typeface="Aptos"/>
                <a:ea typeface="Aptos"/>
                <a:cs typeface="Aptos"/>
                <a:sym typeface="Aptos"/>
              </a:rPr>
              <a:t>40 binary attribute probabilities.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2530"/>
                </a:solidFill>
                <a:latin typeface="Aptos"/>
                <a:ea typeface="Aptos"/>
                <a:cs typeface="Aptos"/>
                <a:sym typeface="Aptos"/>
              </a:rPr>
              <a:t>Examples: age group, gender, hair length, clothing length/color, trousers/skirt, backpack, bag, glasses and hat.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197715" y="1979295"/>
            <a:ext cx="5231130" cy="6465570"/>
            <a:chOff x="0" y="0"/>
            <a:chExt cx="6974840" cy="86207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74839" cy="8620760"/>
            </a:xfrm>
            <a:custGeom>
              <a:avLst/>
              <a:gdLst/>
              <a:ahLst/>
              <a:cxnLst/>
              <a:rect r="r" b="b" t="t" l="l"/>
              <a:pathLst>
                <a:path h="8620760" w="6974839">
                  <a:moveTo>
                    <a:pt x="0" y="91821"/>
                  </a:moveTo>
                  <a:cubicBezTo>
                    <a:pt x="0" y="41148"/>
                    <a:pt x="41148" y="0"/>
                    <a:pt x="91821" y="0"/>
                  </a:cubicBezTo>
                  <a:lnTo>
                    <a:pt x="6883019" y="0"/>
                  </a:lnTo>
                  <a:cubicBezTo>
                    <a:pt x="6933692" y="0"/>
                    <a:pt x="6974839" y="41148"/>
                    <a:pt x="6974839" y="91821"/>
                  </a:cubicBezTo>
                  <a:lnTo>
                    <a:pt x="6974839" y="8528939"/>
                  </a:lnTo>
                  <a:cubicBezTo>
                    <a:pt x="6974839" y="8579612"/>
                    <a:pt x="6933692" y="8620760"/>
                    <a:pt x="6883019" y="8620760"/>
                  </a:cubicBezTo>
                  <a:lnTo>
                    <a:pt x="91821" y="8620760"/>
                  </a:lnTo>
                  <a:cubicBezTo>
                    <a:pt x="41148" y="8620760"/>
                    <a:pt x="0" y="8579612"/>
                    <a:pt x="0" y="852893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197715" y="1979295"/>
            <a:ext cx="101346" cy="6465570"/>
            <a:chOff x="0" y="0"/>
            <a:chExt cx="135128" cy="8620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5128" cy="8620760"/>
            </a:xfrm>
            <a:custGeom>
              <a:avLst/>
              <a:gdLst/>
              <a:ahLst/>
              <a:cxnLst/>
              <a:rect r="r" b="b" t="t" l="l"/>
              <a:pathLst>
                <a:path h="862076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8620760"/>
                  </a:lnTo>
                  <a:lnTo>
                    <a:pt x="0" y="8620760"/>
                  </a:lnTo>
                  <a:close/>
                </a:path>
              </a:pathLst>
            </a:custGeom>
            <a:solidFill>
              <a:srgbClr val="D65353"/>
            </a:solidFill>
            <a:ln w="19050" cap="sq">
              <a:solidFill>
                <a:srgbClr val="D65353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508992" y="2235708"/>
            <a:ext cx="4718304" cy="384048"/>
            <a:chOff x="0" y="0"/>
            <a:chExt cx="6291072" cy="5120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91072" cy="512064"/>
            </a:xfrm>
            <a:custGeom>
              <a:avLst/>
              <a:gdLst/>
              <a:ahLst/>
              <a:cxnLst/>
              <a:rect r="r" b="b" t="t" l="l"/>
              <a:pathLst>
                <a:path h="512064" w="6291072">
                  <a:moveTo>
                    <a:pt x="0" y="0"/>
                  </a:moveTo>
                  <a:lnTo>
                    <a:pt x="6291072" y="0"/>
                  </a:lnTo>
                  <a:lnTo>
                    <a:pt x="629107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29107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Core Challenge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509249" y="2784605"/>
            <a:ext cx="4690367" cy="5458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2530"/>
                </a:solidFill>
                <a:latin typeface="Aptos"/>
                <a:ea typeface="Aptos"/>
                <a:cs typeface="Aptos"/>
                <a:sym typeface="Aptos"/>
              </a:rPr>
              <a:t>The hidden test domain is unseen during training. A model that fits the development data well may still lose performance on new cameras and environments.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34440" y="8805672"/>
            <a:ext cx="15773400" cy="576072"/>
            <a:chOff x="0" y="0"/>
            <a:chExt cx="21031200" cy="7680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031200" cy="768096"/>
            </a:xfrm>
            <a:custGeom>
              <a:avLst/>
              <a:gdLst/>
              <a:ahLst/>
              <a:cxnLst/>
              <a:rect r="r" b="b" t="t" l="l"/>
              <a:pathLst>
                <a:path h="76809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518" r="0" b="-48351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10312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Goal: build a practical baseline that trains locally, follows the official interface, and submits successfully to Codabench.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7785080" y="978408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796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8778"/>
            <a:chOff x="0" y="0"/>
            <a:chExt cx="24408790" cy="1717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71704"/>
            </a:xfrm>
            <a:custGeom>
              <a:avLst/>
              <a:gdLst/>
              <a:ahLst/>
              <a:cxnLst/>
              <a:rect r="r" b="b" t="t" l="l"/>
              <a:pathLst>
                <a:path h="17170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9765792"/>
            <a:ext cx="6858000" cy="274320"/>
            <a:chOff x="0" y="0"/>
            <a:chExt cx="914400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1440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UPAR Challenge 2027 • Track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16000" y="9765792"/>
            <a:ext cx="3909060" cy="274320"/>
            <a:chOff x="0" y="0"/>
            <a:chExt cx="521208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12080" cy="365760"/>
            </a:xfrm>
            <a:custGeom>
              <a:avLst/>
              <a:gdLst/>
              <a:ahLst/>
              <a:cxnLst/>
              <a:rect r="r" b="b" t="t" l="l"/>
              <a:pathLst>
                <a:path h="3657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2120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Computer Vision Assignment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480060"/>
            <a:ext cx="16322040" cy="658368"/>
            <a:chOff x="0" y="0"/>
            <a:chExt cx="21762720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877824"/>
            </a:xfrm>
            <a:custGeom>
              <a:avLst/>
              <a:gdLst/>
              <a:ahLst/>
              <a:cxnLst/>
              <a:rect r="r" b="b" t="t" l="l"/>
              <a:pathLst>
                <a:path h="87782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066" r="0" b="-43306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7627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2. Dataset &amp; Class Imbalance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1812" y="1179576"/>
            <a:ext cx="15773400" cy="411480"/>
            <a:chOff x="0" y="0"/>
            <a:chExt cx="210312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031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Official UPAR Track 1 training and validation splits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2015" y="1842135"/>
            <a:ext cx="4888230" cy="1637538"/>
            <a:chOff x="0" y="0"/>
            <a:chExt cx="6517640" cy="21833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17640" cy="2183384"/>
            </a:xfrm>
            <a:custGeom>
              <a:avLst/>
              <a:gdLst/>
              <a:ahLst/>
              <a:cxnLst/>
              <a:rect r="r" b="b" t="t" l="l"/>
              <a:pathLst>
                <a:path h="2183384" w="6517640">
                  <a:moveTo>
                    <a:pt x="0" y="363855"/>
                  </a:moveTo>
                  <a:cubicBezTo>
                    <a:pt x="0" y="162941"/>
                    <a:pt x="162941" y="0"/>
                    <a:pt x="363855" y="0"/>
                  </a:cubicBezTo>
                  <a:lnTo>
                    <a:pt x="6153785" y="0"/>
                  </a:lnTo>
                  <a:cubicBezTo>
                    <a:pt x="6354826" y="0"/>
                    <a:pt x="6517640" y="162941"/>
                    <a:pt x="6517640" y="363855"/>
                  </a:cubicBezTo>
                  <a:lnTo>
                    <a:pt x="6517640" y="1819529"/>
                  </a:lnTo>
                  <a:cubicBezTo>
                    <a:pt x="6517640" y="2020570"/>
                    <a:pt x="6354699" y="2183384"/>
                    <a:pt x="6153785" y="2183384"/>
                  </a:cubicBezTo>
                  <a:lnTo>
                    <a:pt x="363855" y="2183384"/>
                  </a:lnTo>
                  <a:cubicBezTo>
                    <a:pt x="162941" y="2183384"/>
                    <a:pt x="0" y="2020443"/>
                    <a:pt x="0" y="18195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24712" y="2125980"/>
            <a:ext cx="2125980" cy="480060"/>
            <a:chOff x="0" y="0"/>
            <a:chExt cx="283464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34640" cy="640080"/>
            </a:xfrm>
            <a:custGeom>
              <a:avLst/>
              <a:gdLst/>
              <a:ahLst/>
              <a:cxnLst/>
              <a:rect r="r" b="b" t="t" l="l"/>
              <a:pathLst>
                <a:path h="64008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8346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97,669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743200" y="2221992"/>
            <a:ext cx="2331720" cy="342900"/>
            <a:chOff x="0" y="0"/>
            <a:chExt cx="3108960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08960" cy="457200"/>
            </a:xfrm>
            <a:custGeom>
              <a:avLst/>
              <a:gdLst/>
              <a:ahLst/>
              <a:cxnLst/>
              <a:rect r="r" b="b" t="t" l="l"/>
              <a:pathLst>
                <a:path h="4572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10896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training images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094095" y="1842135"/>
            <a:ext cx="4888230" cy="1637538"/>
            <a:chOff x="0" y="0"/>
            <a:chExt cx="6517640" cy="21833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17640" cy="2183384"/>
            </a:xfrm>
            <a:custGeom>
              <a:avLst/>
              <a:gdLst/>
              <a:ahLst/>
              <a:cxnLst/>
              <a:rect r="r" b="b" t="t" l="l"/>
              <a:pathLst>
                <a:path h="2183384" w="6517640">
                  <a:moveTo>
                    <a:pt x="0" y="363855"/>
                  </a:moveTo>
                  <a:cubicBezTo>
                    <a:pt x="0" y="162941"/>
                    <a:pt x="162941" y="0"/>
                    <a:pt x="363855" y="0"/>
                  </a:cubicBezTo>
                  <a:lnTo>
                    <a:pt x="6153785" y="0"/>
                  </a:lnTo>
                  <a:cubicBezTo>
                    <a:pt x="6354826" y="0"/>
                    <a:pt x="6517640" y="162941"/>
                    <a:pt x="6517640" y="363855"/>
                  </a:cubicBezTo>
                  <a:lnTo>
                    <a:pt x="6517640" y="1819529"/>
                  </a:lnTo>
                  <a:cubicBezTo>
                    <a:pt x="6517640" y="2020570"/>
                    <a:pt x="6354699" y="2183384"/>
                    <a:pt x="6153785" y="2183384"/>
                  </a:cubicBezTo>
                  <a:lnTo>
                    <a:pt x="363855" y="2183384"/>
                  </a:lnTo>
                  <a:cubicBezTo>
                    <a:pt x="162941" y="2183384"/>
                    <a:pt x="0" y="2020443"/>
                    <a:pt x="0" y="18195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336792" y="2125980"/>
            <a:ext cx="2125980" cy="480060"/>
            <a:chOff x="0" y="0"/>
            <a:chExt cx="283464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834640" cy="640080"/>
            </a:xfrm>
            <a:custGeom>
              <a:avLst/>
              <a:gdLst/>
              <a:ahLst/>
              <a:cxnLst/>
              <a:rect r="r" b="b" t="t" l="l"/>
              <a:pathLst>
                <a:path h="640080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8346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33,407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927848" y="2221992"/>
            <a:ext cx="2468880" cy="342900"/>
            <a:chOff x="0" y="0"/>
            <a:chExt cx="3291840" cy="45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91840" cy="457200"/>
            </a:xfrm>
            <a:custGeom>
              <a:avLst/>
              <a:gdLst/>
              <a:ahLst/>
              <a:cxnLst/>
              <a:rect r="r" b="b" t="t" l="l"/>
              <a:pathLst>
                <a:path h="4572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2918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validation images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306175" y="1842135"/>
            <a:ext cx="4888230" cy="1637538"/>
            <a:chOff x="0" y="0"/>
            <a:chExt cx="6517640" cy="21833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17640" cy="2183384"/>
            </a:xfrm>
            <a:custGeom>
              <a:avLst/>
              <a:gdLst/>
              <a:ahLst/>
              <a:cxnLst/>
              <a:rect r="r" b="b" t="t" l="l"/>
              <a:pathLst>
                <a:path h="2183384" w="6517640">
                  <a:moveTo>
                    <a:pt x="0" y="363855"/>
                  </a:moveTo>
                  <a:cubicBezTo>
                    <a:pt x="0" y="162941"/>
                    <a:pt x="162941" y="0"/>
                    <a:pt x="363855" y="0"/>
                  </a:cubicBezTo>
                  <a:lnTo>
                    <a:pt x="6153785" y="0"/>
                  </a:lnTo>
                  <a:cubicBezTo>
                    <a:pt x="6354826" y="0"/>
                    <a:pt x="6517640" y="162941"/>
                    <a:pt x="6517640" y="363855"/>
                  </a:cubicBezTo>
                  <a:lnTo>
                    <a:pt x="6517640" y="1819529"/>
                  </a:lnTo>
                  <a:cubicBezTo>
                    <a:pt x="6517640" y="2020570"/>
                    <a:pt x="6354699" y="2183384"/>
                    <a:pt x="6153785" y="2183384"/>
                  </a:cubicBezTo>
                  <a:lnTo>
                    <a:pt x="363855" y="2183384"/>
                  </a:lnTo>
                  <a:cubicBezTo>
                    <a:pt x="162941" y="2183384"/>
                    <a:pt x="0" y="2020443"/>
                    <a:pt x="0" y="181952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548872" y="2125980"/>
            <a:ext cx="1097280" cy="480060"/>
            <a:chOff x="0" y="0"/>
            <a:chExt cx="146304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4630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40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618720" y="2221992"/>
            <a:ext cx="2400300" cy="342900"/>
            <a:chOff x="0" y="0"/>
            <a:chExt cx="3200400" cy="457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00400" cy="457200"/>
            </a:xfrm>
            <a:custGeom>
              <a:avLst/>
              <a:gdLst/>
              <a:ahLst/>
              <a:cxnLst/>
              <a:rect r="r" b="b" t="t" l="l"/>
              <a:pathLst>
                <a:path h="4572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2004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binary attributes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0120" y="4046220"/>
            <a:ext cx="5760720" cy="411480"/>
            <a:chOff x="0" y="0"/>
            <a:chExt cx="768096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80960" cy="548640"/>
            </a:xfrm>
            <a:custGeom>
              <a:avLst/>
              <a:gdLst/>
              <a:ahLst/>
              <a:cxnLst/>
              <a:rect r="r" b="b" t="t" l="l"/>
              <a:pathLst>
                <a:path h="54864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76809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Training-set prevalence examples</a:t>
              </a:r>
            </a:p>
          </p:txBody>
        </p:sp>
      </p:grpSp>
      <p:pic>
        <p:nvPicPr>
          <p:cNvPr name="Picture 43" id="4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7160" y="3771900"/>
            <a:ext cx="9875520" cy="569214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 rot="0">
            <a:off x="9728835" y="4036695"/>
            <a:ext cx="7494270" cy="4613910"/>
            <a:chOff x="0" y="0"/>
            <a:chExt cx="9992360" cy="6151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2360" cy="6151880"/>
            </a:xfrm>
            <a:custGeom>
              <a:avLst/>
              <a:gdLst/>
              <a:ahLst/>
              <a:cxnLst/>
              <a:rect r="r" b="b" t="t" l="l"/>
              <a:pathLst>
                <a:path h="6151880" w="9992360">
                  <a:moveTo>
                    <a:pt x="0" y="91821"/>
                  </a:moveTo>
                  <a:cubicBezTo>
                    <a:pt x="0" y="41148"/>
                    <a:pt x="41148" y="0"/>
                    <a:pt x="91821" y="0"/>
                  </a:cubicBezTo>
                  <a:lnTo>
                    <a:pt x="9900539" y="0"/>
                  </a:lnTo>
                  <a:cubicBezTo>
                    <a:pt x="9951212" y="0"/>
                    <a:pt x="9992360" y="41148"/>
                    <a:pt x="9992360" y="91821"/>
                  </a:cubicBezTo>
                  <a:lnTo>
                    <a:pt x="9992360" y="6060059"/>
                  </a:lnTo>
                  <a:cubicBezTo>
                    <a:pt x="9992360" y="6110732"/>
                    <a:pt x="9951212" y="6151880"/>
                    <a:pt x="9900539" y="6151880"/>
                  </a:cubicBezTo>
                  <a:lnTo>
                    <a:pt x="91821" y="6151880"/>
                  </a:lnTo>
                  <a:cubicBezTo>
                    <a:pt x="41148" y="6151880"/>
                    <a:pt x="0" y="6110732"/>
                    <a:pt x="0" y="606005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728835" y="4036695"/>
            <a:ext cx="101346" cy="4613910"/>
            <a:chOff x="0" y="0"/>
            <a:chExt cx="135128" cy="61518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5128" cy="6151880"/>
            </a:xfrm>
            <a:custGeom>
              <a:avLst/>
              <a:gdLst/>
              <a:ahLst/>
              <a:cxnLst/>
              <a:rect r="r" b="b" t="t" l="l"/>
              <a:pathLst>
                <a:path h="615188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6151880"/>
                  </a:lnTo>
                  <a:lnTo>
                    <a:pt x="0" y="6151880"/>
                  </a:lnTo>
                  <a:close/>
                </a:path>
              </a:pathLst>
            </a:custGeom>
            <a:solidFill>
              <a:srgbClr val="F48A3C"/>
            </a:solidFill>
            <a:ln w="19050" cap="sq">
              <a:solidFill>
                <a:srgbClr val="F48A3C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040112" y="4293108"/>
            <a:ext cx="6981444" cy="384048"/>
            <a:chOff x="0" y="0"/>
            <a:chExt cx="9308592" cy="5120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308592" cy="512064"/>
            </a:xfrm>
            <a:custGeom>
              <a:avLst/>
              <a:gdLst/>
              <a:ahLst/>
              <a:cxnLst/>
              <a:rect r="r" b="b" t="t" l="l"/>
              <a:pathLst>
                <a:path h="512064" w="9308592">
                  <a:moveTo>
                    <a:pt x="0" y="0"/>
                  </a:moveTo>
                  <a:lnTo>
                    <a:pt x="9308592" y="0"/>
                  </a:lnTo>
                  <a:lnTo>
                    <a:pt x="930859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10" r="0" b="-30421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930859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Distribution Shift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0040369" y="4842005"/>
            <a:ext cx="6953507" cy="360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2530"/>
                </a:solidFill>
                <a:latin typeface="Aptos"/>
                <a:ea typeface="Aptos"/>
                <a:cs typeface="Aptos"/>
                <a:sym typeface="Aptos"/>
              </a:rPr>
              <a:t>Examples of train → validation prevalence changes: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2530"/>
                </a:solidFill>
                <a:latin typeface="Aptos"/>
                <a:ea typeface="Aptos"/>
                <a:cs typeface="Aptos"/>
                <a:sym typeface="Aptos"/>
              </a:rPr>
              <a:t>• Age-Young: 4.66% → 1.10%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2530"/>
                </a:solidFill>
                <a:latin typeface="Aptos"/>
                <a:ea typeface="Aptos"/>
                <a:cs typeface="Aptos"/>
                <a:sym typeface="Aptos"/>
              </a:rPr>
              <a:t>• LowerBody-Length-Short: 20.54% → 37.51%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2530"/>
                </a:solidFill>
                <a:latin typeface="Aptos"/>
                <a:ea typeface="Aptos"/>
                <a:cs typeface="Aptos"/>
                <a:sym typeface="Aptos"/>
              </a:rPr>
              <a:t>• UpperBody-White: 28.11% → 22.50%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2530"/>
                </a:solidFill>
                <a:latin typeface="Aptos"/>
                <a:ea typeface="Aptos"/>
                <a:cs typeface="Aptos"/>
                <a:sym typeface="Aptos"/>
              </a:rPr>
              <a:t>This imbalance + shift makes hidden-domain generalization difficult.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785080" y="978408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796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8778"/>
            <a:chOff x="0" y="0"/>
            <a:chExt cx="24408790" cy="1717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71704"/>
            </a:xfrm>
            <a:custGeom>
              <a:avLst/>
              <a:gdLst/>
              <a:ahLst/>
              <a:cxnLst/>
              <a:rect r="r" b="b" t="t" l="l"/>
              <a:pathLst>
                <a:path h="17170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9765792"/>
            <a:ext cx="6858000" cy="274320"/>
            <a:chOff x="0" y="0"/>
            <a:chExt cx="914400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1440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UPAR Challenge 2027 • Track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16000" y="9765792"/>
            <a:ext cx="3909060" cy="274320"/>
            <a:chOff x="0" y="0"/>
            <a:chExt cx="521208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12080" cy="365760"/>
            </a:xfrm>
            <a:custGeom>
              <a:avLst/>
              <a:gdLst/>
              <a:ahLst/>
              <a:cxnLst/>
              <a:rect r="r" b="b" t="t" l="l"/>
              <a:pathLst>
                <a:path h="3657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2120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Computer Vision Assignment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480060"/>
            <a:ext cx="16322040" cy="658368"/>
            <a:chOff x="0" y="0"/>
            <a:chExt cx="21762720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877824"/>
            </a:xfrm>
            <a:custGeom>
              <a:avLst/>
              <a:gdLst/>
              <a:ahLst/>
              <a:cxnLst/>
              <a:rect r="r" b="b" t="t" l="l"/>
              <a:pathLst>
                <a:path h="87782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066" r="0" b="-43306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7627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3. Methodology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1812" y="1179576"/>
            <a:ext cx="15773400" cy="411480"/>
            <a:chOff x="0" y="0"/>
            <a:chExt cx="210312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031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ImageNet-pretrained ResNet-50 fine-tuned end-to-end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2015" y="2459355"/>
            <a:ext cx="2899410" cy="1870710"/>
            <a:chOff x="0" y="0"/>
            <a:chExt cx="3865880" cy="2494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65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3865880">
                  <a:moveTo>
                    <a:pt x="0" y="415671"/>
                  </a:moveTo>
                  <a:cubicBezTo>
                    <a:pt x="0" y="186182"/>
                    <a:pt x="186182" y="0"/>
                    <a:pt x="415671" y="0"/>
                  </a:cubicBezTo>
                  <a:lnTo>
                    <a:pt x="3450209" y="0"/>
                  </a:lnTo>
                  <a:cubicBezTo>
                    <a:pt x="3679825" y="0"/>
                    <a:pt x="3865880" y="186182"/>
                    <a:pt x="3865880" y="415671"/>
                  </a:cubicBezTo>
                  <a:lnTo>
                    <a:pt x="3865880" y="2078609"/>
                  </a:lnTo>
                  <a:cubicBezTo>
                    <a:pt x="3865880" y="2308225"/>
                    <a:pt x="3679698" y="2494280"/>
                    <a:pt x="3450209" y="2494280"/>
                  </a:cubicBezTo>
                  <a:lnTo>
                    <a:pt x="415671" y="2494280"/>
                  </a:lnTo>
                  <a:cubicBezTo>
                    <a:pt x="186182" y="2494280"/>
                    <a:pt x="0" y="2308098"/>
                    <a:pt x="0" y="207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811780"/>
            <a:ext cx="2468880" cy="685800"/>
            <a:chOff x="0" y="0"/>
            <a:chExt cx="329184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291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Pedestrian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image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3634740"/>
            <a:ext cx="2468880" cy="342900"/>
            <a:chOff x="0" y="0"/>
            <a:chExt cx="3291840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91840" cy="457200"/>
            </a:xfrm>
            <a:custGeom>
              <a:avLst/>
              <a:gdLst/>
              <a:ahLst/>
              <a:cxnLst/>
              <a:rect r="r" b="b" t="t" l="l"/>
              <a:pathLst>
                <a:path h="4572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2918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RGB crop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72103" y="3007995"/>
            <a:ext cx="403098" cy="732282"/>
            <a:chOff x="0" y="0"/>
            <a:chExt cx="537464" cy="9763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7464" cy="976376"/>
            </a:xfrm>
            <a:custGeom>
              <a:avLst/>
              <a:gdLst/>
              <a:ahLst/>
              <a:cxnLst/>
              <a:rect r="r" b="b" t="t" l="l"/>
              <a:pathLst>
                <a:path h="976376" w="537464">
                  <a:moveTo>
                    <a:pt x="0" y="0"/>
                  </a:moveTo>
                  <a:lnTo>
                    <a:pt x="268732" y="0"/>
                  </a:lnTo>
                  <a:lnTo>
                    <a:pt x="537464" y="488188"/>
                  </a:lnTo>
                  <a:lnTo>
                    <a:pt x="268732" y="976376"/>
                  </a:lnTo>
                  <a:lnTo>
                    <a:pt x="0" y="976376"/>
                  </a:lnTo>
                  <a:lnTo>
                    <a:pt x="268732" y="488188"/>
                  </a:lnTo>
                  <a:close/>
                </a:path>
              </a:pathLst>
            </a:custGeom>
            <a:solidFill>
              <a:srgbClr val="A6B6C2"/>
            </a:solidFill>
            <a:ln w="19050" cap="sq">
              <a:solidFill>
                <a:srgbClr val="A6B6C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173855" y="2459355"/>
            <a:ext cx="2899410" cy="1870710"/>
            <a:chOff x="0" y="0"/>
            <a:chExt cx="3865880" cy="2494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65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3865880">
                  <a:moveTo>
                    <a:pt x="0" y="415671"/>
                  </a:moveTo>
                  <a:cubicBezTo>
                    <a:pt x="0" y="186182"/>
                    <a:pt x="186182" y="0"/>
                    <a:pt x="415671" y="0"/>
                  </a:cubicBezTo>
                  <a:lnTo>
                    <a:pt x="3450209" y="0"/>
                  </a:lnTo>
                  <a:cubicBezTo>
                    <a:pt x="3679825" y="0"/>
                    <a:pt x="3865880" y="186182"/>
                    <a:pt x="3865880" y="415671"/>
                  </a:cubicBezTo>
                  <a:lnTo>
                    <a:pt x="3865880" y="2078609"/>
                  </a:lnTo>
                  <a:cubicBezTo>
                    <a:pt x="3865880" y="2308225"/>
                    <a:pt x="3679698" y="2494280"/>
                    <a:pt x="3450209" y="2494280"/>
                  </a:cubicBezTo>
                  <a:lnTo>
                    <a:pt x="415671" y="2494280"/>
                  </a:lnTo>
                  <a:cubicBezTo>
                    <a:pt x="186182" y="2494280"/>
                    <a:pt x="0" y="2308098"/>
                    <a:pt x="0" y="207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389120" y="2811780"/>
            <a:ext cx="2468880" cy="685800"/>
            <a:chOff x="0" y="0"/>
            <a:chExt cx="329184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291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Resize</a:t>
              </a:r>
            </a:p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256 × 128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389120" y="3634740"/>
            <a:ext cx="2468880" cy="342900"/>
            <a:chOff x="0" y="0"/>
            <a:chExt cx="3291840" cy="457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91840" cy="457200"/>
            </a:xfrm>
            <a:custGeom>
              <a:avLst/>
              <a:gdLst/>
              <a:ahLst/>
              <a:cxnLst/>
              <a:rect r="r" b="b" t="t" l="l"/>
              <a:pathLst>
                <a:path h="4572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2918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Flip + color jitter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163943" y="3007995"/>
            <a:ext cx="403098" cy="732282"/>
            <a:chOff x="0" y="0"/>
            <a:chExt cx="537464" cy="9763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7464" cy="976376"/>
            </a:xfrm>
            <a:custGeom>
              <a:avLst/>
              <a:gdLst/>
              <a:ahLst/>
              <a:cxnLst/>
              <a:rect r="r" b="b" t="t" l="l"/>
              <a:pathLst>
                <a:path h="976376" w="537464">
                  <a:moveTo>
                    <a:pt x="0" y="0"/>
                  </a:moveTo>
                  <a:lnTo>
                    <a:pt x="268732" y="0"/>
                  </a:lnTo>
                  <a:lnTo>
                    <a:pt x="537464" y="488188"/>
                  </a:lnTo>
                  <a:lnTo>
                    <a:pt x="268732" y="976376"/>
                  </a:lnTo>
                  <a:lnTo>
                    <a:pt x="0" y="976376"/>
                  </a:lnTo>
                  <a:lnTo>
                    <a:pt x="268732" y="488188"/>
                  </a:lnTo>
                  <a:close/>
                </a:path>
              </a:pathLst>
            </a:custGeom>
            <a:solidFill>
              <a:srgbClr val="A6B6C2"/>
            </a:solidFill>
            <a:ln w="19050" cap="sq">
              <a:solidFill>
                <a:srgbClr val="A6B6C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458075" y="2451735"/>
            <a:ext cx="2914650" cy="1885950"/>
            <a:chOff x="0" y="0"/>
            <a:chExt cx="3886200" cy="2514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862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3886200">
                  <a:moveTo>
                    <a:pt x="0" y="419100"/>
                  </a:moveTo>
                  <a:cubicBezTo>
                    <a:pt x="0" y="187579"/>
                    <a:pt x="187579" y="0"/>
                    <a:pt x="419100" y="0"/>
                  </a:cubicBezTo>
                  <a:lnTo>
                    <a:pt x="3467100" y="0"/>
                  </a:lnTo>
                  <a:cubicBezTo>
                    <a:pt x="3698621" y="0"/>
                    <a:pt x="3886200" y="187579"/>
                    <a:pt x="3886200" y="419100"/>
                  </a:cubicBezTo>
                  <a:lnTo>
                    <a:pt x="3886200" y="2095500"/>
                  </a:lnTo>
                  <a:cubicBezTo>
                    <a:pt x="3886200" y="2327021"/>
                    <a:pt x="3698621" y="2514600"/>
                    <a:pt x="3467100" y="2514600"/>
                  </a:cubicBezTo>
                  <a:lnTo>
                    <a:pt x="419100" y="2514600"/>
                  </a:lnTo>
                  <a:cubicBezTo>
                    <a:pt x="187579" y="2514600"/>
                    <a:pt x="0" y="2327021"/>
                    <a:pt x="0" y="2095500"/>
                  </a:cubicBezTo>
                  <a:close/>
                </a:path>
              </a:pathLst>
            </a:custGeom>
            <a:solidFill>
              <a:srgbClr val="DDF6F5"/>
            </a:solidFill>
            <a:ln w="3429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680960" y="2811780"/>
            <a:ext cx="2468880" cy="685800"/>
            <a:chOff x="0" y="0"/>
            <a:chExt cx="329184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3291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ResNet-50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80960" y="3634740"/>
            <a:ext cx="2468880" cy="342900"/>
            <a:chOff x="0" y="0"/>
            <a:chExt cx="3291840" cy="457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91840" cy="457200"/>
            </a:xfrm>
            <a:custGeom>
              <a:avLst/>
              <a:gdLst/>
              <a:ahLst/>
              <a:cxnLst/>
              <a:rect r="r" b="b" t="t" l="l"/>
              <a:pathLst>
                <a:path h="4572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2918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ImageNet pretrained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455783" y="3007995"/>
            <a:ext cx="403098" cy="732282"/>
            <a:chOff x="0" y="0"/>
            <a:chExt cx="537464" cy="97637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7464" cy="976376"/>
            </a:xfrm>
            <a:custGeom>
              <a:avLst/>
              <a:gdLst/>
              <a:ahLst/>
              <a:cxnLst/>
              <a:rect r="r" b="b" t="t" l="l"/>
              <a:pathLst>
                <a:path h="976376" w="537464">
                  <a:moveTo>
                    <a:pt x="0" y="0"/>
                  </a:moveTo>
                  <a:lnTo>
                    <a:pt x="268732" y="0"/>
                  </a:lnTo>
                  <a:lnTo>
                    <a:pt x="537464" y="488188"/>
                  </a:lnTo>
                  <a:lnTo>
                    <a:pt x="268732" y="976376"/>
                  </a:lnTo>
                  <a:lnTo>
                    <a:pt x="0" y="976376"/>
                  </a:lnTo>
                  <a:lnTo>
                    <a:pt x="268732" y="488188"/>
                  </a:lnTo>
                  <a:close/>
                </a:path>
              </a:pathLst>
            </a:custGeom>
            <a:solidFill>
              <a:srgbClr val="A6B6C2"/>
            </a:solidFill>
            <a:ln w="19050" cap="sq">
              <a:solidFill>
                <a:srgbClr val="A6B6C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0757535" y="2459355"/>
            <a:ext cx="2899410" cy="1870710"/>
            <a:chOff x="0" y="0"/>
            <a:chExt cx="3865880" cy="2494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65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3865880">
                  <a:moveTo>
                    <a:pt x="0" y="415671"/>
                  </a:moveTo>
                  <a:cubicBezTo>
                    <a:pt x="0" y="186182"/>
                    <a:pt x="186182" y="0"/>
                    <a:pt x="415671" y="0"/>
                  </a:cubicBezTo>
                  <a:lnTo>
                    <a:pt x="3450209" y="0"/>
                  </a:lnTo>
                  <a:cubicBezTo>
                    <a:pt x="3679825" y="0"/>
                    <a:pt x="3865880" y="186182"/>
                    <a:pt x="3865880" y="415671"/>
                  </a:cubicBezTo>
                  <a:lnTo>
                    <a:pt x="3865880" y="2078609"/>
                  </a:lnTo>
                  <a:cubicBezTo>
                    <a:pt x="3865880" y="2308225"/>
                    <a:pt x="3679698" y="2494280"/>
                    <a:pt x="3450209" y="2494280"/>
                  </a:cubicBezTo>
                  <a:lnTo>
                    <a:pt x="415671" y="2494280"/>
                  </a:lnTo>
                  <a:cubicBezTo>
                    <a:pt x="186182" y="2494280"/>
                    <a:pt x="0" y="2308098"/>
                    <a:pt x="0" y="207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972800" y="2811780"/>
            <a:ext cx="2468880" cy="685800"/>
            <a:chOff x="0" y="0"/>
            <a:chExt cx="329184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291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40 logits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972800" y="3634740"/>
            <a:ext cx="2468880" cy="342900"/>
            <a:chOff x="0" y="0"/>
            <a:chExt cx="3291840" cy="457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291840" cy="457200"/>
            </a:xfrm>
            <a:custGeom>
              <a:avLst/>
              <a:gdLst/>
              <a:ahLst/>
              <a:cxnLst/>
              <a:rect r="r" b="b" t="t" l="l"/>
              <a:pathLst>
                <a:path h="4572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2918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New FC layer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747623" y="3007995"/>
            <a:ext cx="403098" cy="732282"/>
            <a:chOff x="0" y="0"/>
            <a:chExt cx="537464" cy="97637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7464" cy="976376"/>
            </a:xfrm>
            <a:custGeom>
              <a:avLst/>
              <a:gdLst/>
              <a:ahLst/>
              <a:cxnLst/>
              <a:rect r="r" b="b" t="t" l="l"/>
              <a:pathLst>
                <a:path h="976376" w="537464">
                  <a:moveTo>
                    <a:pt x="0" y="0"/>
                  </a:moveTo>
                  <a:lnTo>
                    <a:pt x="268732" y="0"/>
                  </a:lnTo>
                  <a:lnTo>
                    <a:pt x="537464" y="488188"/>
                  </a:lnTo>
                  <a:lnTo>
                    <a:pt x="268732" y="976376"/>
                  </a:lnTo>
                  <a:lnTo>
                    <a:pt x="0" y="976376"/>
                  </a:lnTo>
                  <a:lnTo>
                    <a:pt x="268732" y="488188"/>
                  </a:lnTo>
                  <a:close/>
                </a:path>
              </a:pathLst>
            </a:custGeom>
            <a:solidFill>
              <a:srgbClr val="A6B6C2"/>
            </a:solidFill>
            <a:ln w="19050" cap="sq">
              <a:solidFill>
                <a:srgbClr val="A6B6C2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4049375" y="2459355"/>
            <a:ext cx="2899410" cy="1870710"/>
            <a:chOff x="0" y="0"/>
            <a:chExt cx="3865880" cy="2494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865880" cy="2494280"/>
            </a:xfrm>
            <a:custGeom>
              <a:avLst/>
              <a:gdLst/>
              <a:ahLst/>
              <a:cxnLst/>
              <a:rect r="r" b="b" t="t" l="l"/>
              <a:pathLst>
                <a:path h="2494280" w="3865880">
                  <a:moveTo>
                    <a:pt x="0" y="415671"/>
                  </a:moveTo>
                  <a:cubicBezTo>
                    <a:pt x="0" y="186182"/>
                    <a:pt x="186182" y="0"/>
                    <a:pt x="415671" y="0"/>
                  </a:cubicBezTo>
                  <a:lnTo>
                    <a:pt x="3450209" y="0"/>
                  </a:lnTo>
                  <a:cubicBezTo>
                    <a:pt x="3679825" y="0"/>
                    <a:pt x="3865880" y="186182"/>
                    <a:pt x="3865880" y="415671"/>
                  </a:cubicBezTo>
                  <a:lnTo>
                    <a:pt x="3865880" y="2078609"/>
                  </a:lnTo>
                  <a:cubicBezTo>
                    <a:pt x="3865880" y="2308225"/>
                    <a:pt x="3679698" y="2494280"/>
                    <a:pt x="3450209" y="2494280"/>
                  </a:cubicBezTo>
                  <a:lnTo>
                    <a:pt x="415671" y="2494280"/>
                  </a:lnTo>
                  <a:cubicBezTo>
                    <a:pt x="186182" y="2494280"/>
                    <a:pt x="0" y="2308098"/>
                    <a:pt x="0" y="207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4264640" y="2811780"/>
            <a:ext cx="2468880" cy="685800"/>
            <a:chOff x="0" y="0"/>
            <a:chExt cx="329184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3291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Sigmoid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264640" y="3634740"/>
            <a:ext cx="2468880" cy="342900"/>
            <a:chOff x="0" y="0"/>
            <a:chExt cx="3291840" cy="457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91840" cy="457200"/>
            </a:xfrm>
            <a:custGeom>
              <a:avLst/>
              <a:gdLst/>
              <a:ahLst/>
              <a:cxnLst/>
              <a:rect r="r" b="b" t="t" l="l"/>
              <a:pathLst>
                <a:path h="4572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329184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40 probabilities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97280" y="5692140"/>
            <a:ext cx="1577340" cy="246888"/>
            <a:chOff x="0" y="0"/>
            <a:chExt cx="2103120" cy="329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03120" cy="329184"/>
            </a:xfrm>
            <a:custGeom>
              <a:avLst/>
              <a:gdLst/>
              <a:ahLst/>
              <a:cxnLst/>
              <a:rect r="r" b="b" t="t" l="l"/>
              <a:pathLst>
                <a:path h="32918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87" r="0" b="-7448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10312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13B8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LOSS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97280" y="6035040"/>
            <a:ext cx="3497580" cy="384048"/>
            <a:chOff x="0" y="0"/>
            <a:chExt cx="4663440" cy="51206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663440" cy="512064"/>
            </a:xfrm>
            <a:custGeom>
              <a:avLst/>
              <a:gdLst/>
              <a:ahLst/>
              <a:cxnLst/>
              <a:rect r="r" b="b" t="t" l="l"/>
              <a:pathLst>
                <a:path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9525"/>
              <a:ext cx="46634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 b="true">
                  <a:solidFill>
                    <a:srgbClr val="1A25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BCEWithLogitsLoss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5280660" y="5692140"/>
            <a:ext cx="1577340" cy="246888"/>
            <a:chOff x="0" y="0"/>
            <a:chExt cx="2103120" cy="3291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03120" cy="329184"/>
            </a:xfrm>
            <a:custGeom>
              <a:avLst/>
              <a:gdLst/>
              <a:ahLst/>
              <a:cxnLst/>
              <a:rect r="r" b="b" t="t" l="l"/>
              <a:pathLst>
                <a:path h="32918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87" r="0" b="-7448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210312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13B8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OPTIMIZER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280660" y="6035040"/>
            <a:ext cx="3497580" cy="384048"/>
            <a:chOff x="0" y="0"/>
            <a:chExt cx="4663440" cy="51206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663440" cy="512064"/>
            </a:xfrm>
            <a:custGeom>
              <a:avLst/>
              <a:gdLst/>
              <a:ahLst/>
              <a:cxnLst/>
              <a:rect r="r" b="b" t="t" l="l"/>
              <a:pathLst>
                <a:path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9525"/>
              <a:ext cx="46634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 b="true">
                  <a:solidFill>
                    <a:srgbClr val="1A25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AdamW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464040" y="5692140"/>
            <a:ext cx="1577340" cy="246888"/>
            <a:chOff x="0" y="0"/>
            <a:chExt cx="2103120" cy="3291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03120" cy="329184"/>
            </a:xfrm>
            <a:custGeom>
              <a:avLst/>
              <a:gdLst/>
              <a:ahLst/>
              <a:cxnLst/>
              <a:rect r="r" b="b" t="t" l="l"/>
              <a:pathLst>
                <a:path h="32918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87" r="0" b="-7448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210312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13B8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LEARNING RATE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464040" y="6035040"/>
            <a:ext cx="3497580" cy="384048"/>
            <a:chOff x="0" y="0"/>
            <a:chExt cx="4663440" cy="51206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663440" cy="512064"/>
            </a:xfrm>
            <a:custGeom>
              <a:avLst/>
              <a:gdLst/>
              <a:ahLst/>
              <a:cxnLst/>
              <a:rect r="r" b="b" t="t" l="l"/>
              <a:pathLst>
                <a:path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9525"/>
              <a:ext cx="46634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 b="true">
                  <a:solidFill>
                    <a:srgbClr val="1A25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1e-4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647420" y="5692140"/>
            <a:ext cx="1577340" cy="246888"/>
            <a:chOff x="0" y="0"/>
            <a:chExt cx="2103120" cy="32918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03120" cy="329184"/>
            </a:xfrm>
            <a:custGeom>
              <a:avLst/>
              <a:gdLst/>
              <a:ahLst/>
              <a:cxnLst/>
              <a:rect r="r" b="b" t="t" l="l"/>
              <a:pathLst>
                <a:path h="32918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87" r="0" b="-7448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210312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13B8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WEIGHT DECAY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3647420" y="6035040"/>
            <a:ext cx="3497580" cy="384048"/>
            <a:chOff x="0" y="0"/>
            <a:chExt cx="4663440" cy="51206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663440" cy="512064"/>
            </a:xfrm>
            <a:custGeom>
              <a:avLst/>
              <a:gdLst/>
              <a:ahLst/>
              <a:cxnLst/>
              <a:rect r="r" b="b" t="t" l="l"/>
              <a:pathLst>
                <a:path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9525"/>
              <a:ext cx="46634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 b="true">
                  <a:solidFill>
                    <a:srgbClr val="1A25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1e-4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97280" y="7132320"/>
            <a:ext cx="1577340" cy="246888"/>
            <a:chOff x="0" y="0"/>
            <a:chExt cx="2103120" cy="3291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103120" cy="329184"/>
            </a:xfrm>
            <a:custGeom>
              <a:avLst/>
              <a:gdLst/>
              <a:ahLst/>
              <a:cxnLst/>
              <a:rect r="r" b="b" t="t" l="l"/>
              <a:pathLst>
                <a:path h="32918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87" r="0" b="-7448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210312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13B8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BATCH SIZE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97280" y="7475220"/>
            <a:ext cx="3497580" cy="384048"/>
            <a:chOff x="0" y="0"/>
            <a:chExt cx="4663440" cy="5120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663440" cy="512064"/>
            </a:xfrm>
            <a:custGeom>
              <a:avLst/>
              <a:gdLst/>
              <a:ahLst/>
              <a:cxnLst/>
              <a:rect r="r" b="b" t="t" l="l"/>
              <a:pathLst>
                <a:path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9525"/>
              <a:ext cx="46634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 b="true">
                  <a:solidFill>
                    <a:srgbClr val="1A25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32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5280660" y="7132320"/>
            <a:ext cx="1577340" cy="246888"/>
            <a:chOff x="0" y="0"/>
            <a:chExt cx="2103120" cy="32918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103120" cy="329184"/>
            </a:xfrm>
            <a:custGeom>
              <a:avLst/>
              <a:gdLst/>
              <a:ahLst/>
              <a:cxnLst/>
              <a:rect r="r" b="b" t="t" l="l"/>
              <a:pathLst>
                <a:path h="32918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87" r="0" b="-7448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210312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13B8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EPOCHS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5280660" y="7475220"/>
            <a:ext cx="3497580" cy="384048"/>
            <a:chOff x="0" y="0"/>
            <a:chExt cx="4663440" cy="51206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663440" cy="512064"/>
            </a:xfrm>
            <a:custGeom>
              <a:avLst/>
              <a:gdLst/>
              <a:ahLst/>
              <a:cxnLst/>
              <a:rect r="r" b="b" t="t" l="l"/>
              <a:pathLst>
                <a:path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9525"/>
              <a:ext cx="46634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 b="true">
                  <a:solidFill>
                    <a:srgbClr val="1A25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464040" y="7132320"/>
            <a:ext cx="1577340" cy="246888"/>
            <a:chOff x="0" y="0"/>
            <a:chExt cx="2103120" cy="32918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103120" cy="329184"/>
            </a:xfrm>
            <a:custGeom>
              <a:avLst/>
              <a:gdLst/>
              <a:ahLst/>
              <a:cxnLst/>
              <a:rect r="r" b="b" t="t" l="l"/>
              <a:pathLst>
                <a:path h="32918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87" r="0" b="-7448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210312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13B8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MIXED PRECISION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464040" y="7475220"/>
            <a:ext cx="3497580" cy="384048"/>
            <a:chOff x="0" y="0"/>
            <a:chExt cx="4663440" cy="51206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663440" cy="512064"/>
            </a:xfrm>
            <a:custGeom>
              <a:avLst/>
              <a:gdLst/>
              <a:ahLst/>
              <a:cxnLst/>
              <a:rect r="r" b="b" t="t" l="l"/>
              <a:pathLst>
                <a:path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9525"/>
              <a:ext cx="46634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 b="true">
                  <a:solidFill>
                    <a:srgbClr val="1A25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Enabled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3647420" y="7132320"/>
            <a:ext cx="1577340" cy="246888"/>
            <a:chOff x="0" y="0"/>
            <a:chExt cx="2103120" cy="3291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103120" cy="329184"/>
            </a:xfrm>
            <a:custGeom>
              <a:avLst/>
              <a:gdLst/>
              <a:ahLst/>
              <a:cxnLst/>
              <a:rect r="r" b="b" t="t" l="l"/>
              <a:pathLst>
                <a:path h="329184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87" r="0" b="-74487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9525"/>
              <a:ext cx="210312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13B8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GPU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3647420" y="7475220"/>
            <a:ext cx="3497580" cy="384048"/>
            <a:chOff x="0" y="0"/>
            <a:chExt cx="4663440" cy="51206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663440" cy="512064"/>
            </a:xfrm>
            <a:custGeom>
              <a:avLst/>
              <a:gdLst/>
              <a:ahLst/>
              <a:cxnLst/>
              <a:rect r="r" b="b" t="t" l="l"/>
              <a:pathLst>
                <a:path h="51206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9525"/>
              <a:ext cx="4663440" cy="5025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 b="true">
                  <a:solidFill>
                    <a:srgbClr val="1A253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RTX 4050 • 6 GB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711315" y="8700135"/>
            <a:ext cx="3036570" cy="512826"/>
            <a:chOff x="0" y="0"/>
            <a:chExt cx="4048760" cy="68376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048760" cy="683768"/>
            </a:xfrm>
            <a:custGeom>
              <a:avLst/>
              <a:gdLst/>
              <a:ahLst/>
              <a:cxnLst/>
              <a:rect r="r" b="b" t="t" l="l"/>
              <a:pathLst>
                <a:path h="683768" w="4048760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3896868" y="0"/>
                  </a:lnTo>
                  <a:cubicBezTo>
                    <a:pt x="3980815" y="0"/>
                    <a:pt x="4048760" y="68072"/>
                    <a:pt x="4048760" y="151892"/>
                  </a:cubicBezTo>
                  <a:lnTo>
                    <a:pt x="4048760" y="531876"/>
                  </a:lnTo>
                  <a:cubicBezTo>
                    <a:pt x="4048760" y="615823"/>
                    <a:pt x="3980688" y="683768"/>
                    <a:pt x="3896868" y="683768"/>
                  </a:cubicBezTo>
                  <a:lnTo>
                    <a:pt x="151892" y="683768"/>
                  </a:lnTo>
                  <a:cubicBezTo>
                    <a:pt x="68072" y="683768"/>
                    <a:pt x="0" y="615696"/>
                    <a:pt x="0" y="531876"/>
                  </a:cubicBezTo>
                  <a:close/>
                </a:path>
              </a:pathLst>
            </a:custGeom>
            <a:solidFill>
              <a:srgbClr val="EAF2F5"/>
            </a:solidFill>
            <a:ln w="19050" cap="sq">
              <a:solidFill>
                <a:srgbClr val="EAF2F5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6830568" y="8805672"/>
            <a:ext cx="2798064" cy="246888"/>
            <a:chOff x="0" y="0"/>
            <a:chExt cx="3730752" cy="32918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730752" cy="329184"/>
            </a:xfrm>
            <a:custGeom>
              <a:avLst/>
              <a:gdLst/>
              <a:ahLst/>
              <a:cxnLst/>
              <a:rect r="r" b="b" t="t" l="l"/>
              <a:pathLst>
                <a:path h="329184" w="3730752">
                  <a:moveTo>
                    <a:pt x="0" y="0"/>
                  </a:moveTo>
                  <a:lnTo>
                    <a:pt x="3730752" y="0"/>
                  </a:lnTo>
                  <a:lnTo>
                    <a:pt x="373075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373075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23,589,992 parameters</a:t>
              </a:r>
            </a:p>
          </p:txBody>
        </p:sp>
      </p:grpSp>
      <p:sp>
        <p:nvSpPr>
          <p:cNvPr name="TextBox 117" id="117"/>
          <p:cNvSpPr txBox="true"/>
          <p:nvPr/>
        </p:nvSpPr>
        <p:spPr>
          <a:xfrm rot="0">
            <a:off x="17785080" y="978408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796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8778"/>
            <a:chOff x="0" y="0"/>
            <a:chExt cx="24408790" cy="1717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71704"/>
            </a:xfrm>
            <a:custGeom>
              <a:avLst/>
              <a:gdLst/>
              <a:ahLst/>
              <a:cxnLst/>
              <a:rect r="r" b="b" t="t" l="l"/>
              <a:pathLst>
                <a:path h="17170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9765792"/>
            <a:ext cx="6858000" cy="274320"/>
            <a:chOff x="0" y="0"/>
            <a:chExt cx="914400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1440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UPAR Challenge 2027 • Track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16000" y="9765792"/>
            <a:ext cx="3909060" cy="274320"/>
            <a:chOff x="0" y="0"/>
            <a:chExt cx="521208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12080" cy="365760"/>
            </a:xfrm>
            <a:custGeom>
              <a:avLst/>
              <a:gdLst/>
              <a:ahLst/>
              <a:cxnLst/>
              <a:rect r="r" b="b" t="t" l="l"/>
              <a:pathLst>
                <a:path h="3657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2120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Computer Vision Assignment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480060"/>
            <a:ext cx="16322040" cy="658368"/>
            <a:chOff x="0" y="0"/>
            <a:chExt cx="21762720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877824"/>
            </a:xfrm>
            <a:custGeom>
              <a:avLst/>
              <a:gdLst/>
              <a:ahLst/>
              <a:cxnLst/>
              <a:rect r="r" b="b" t="t" l="l"/>
              <a:pathLst>
                <a:path h="87782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066" r="0" b="-43306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7627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 Training &amp; Validation Results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1812" y="1179576"/>
            <a:ext cx="15773400" cy="411480"/>
            <a:chOff x="0" y="0"/>
            <a:chExt cx="210312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031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Best checkpoint selected by the official Challenge_Avg metric</a:t>
              </a:r>
            </a:p>
          </p:txBody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0574" y="1008126"/>
            <a:ext cx="11768328" cy="6830568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 rot="0">
            <a:off x="11237595" y="1979295"/>
            <a:ext cx="5985510" cy="4888230"/>
            <a:chOff x="0" y="0"/>
            <a:chExt cx="7980680" cy="6517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80680" cy="6517640"/>
            </a:xfrm>
            <a:custGeom>
              <a:avLst/>
              <a:gdLst/>
              <a:ahLst/>
              <a:cxnLst/>
              <a:rect r="r" b="b" t="t" l="l"/>
              <a:pathLst>
                <a:path h="6517640" w="7980680">
                  <a:moveTo>
                    <a:pt x="0" y="1086358"/>
                  </a:moveTo>
                  <a:cubicBezTo>
                    <a:pt x="0" y="486410"/>
                    <a:pt x="486410" y="0"/>
                    <a:pt x="1086358" y="0"/>
                  </a:cubicBezTo>
                  <a:lnTo>
                    <a:pt x="6894322" y="0"/>
                  </a:lnTo>
                  <a:cubicBezTo>
                    <a:pt x="7494270" y="0"/>
                    <a:pt x="7980680" y="486410"/>
                    <a:pt x="7980680" y="1086358"/>
                  </a:cubicBezTo>
                  <a:lnTo>
                    <a:pt x="7980680" y="5431282"/>
                  </a:lnTo>
                  <a:cubicBezTo>
                    <a:pt x="7980680" y="6031230"/>
                    <a:pt x="7494270" y="6517640"/>
                    <a:pt x="6894323" y="6517640"/>
                  </a:cubicBezTo>
                  <a:lnTo>
                    <a:pt x="1086358" y="6517640"/>
                  </a:lnTo>
                  <a:cubicBezTo>
                    <a:pt x="486410" y="6517640"/>
                    <a:pt x="0" y="6031230"/>
                    <a:pt x="0" y="543128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658600" y="2441448"/>
            <a:ext cx="2743200" cy="342900"/>
            <a:chOff x="0" y="0"/>
            <a:chExt cx="3657600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457200"/>
            </a:xfrm>
            <a:custGeom>
              <a:avLst/>
              <a:gdLst/>
              <a:ahLst/>
              <a:cxnLst/>
              <a:rect r="r" b="b" t="t" l="l"/>
              <a:pathLst>
                <a:path h="45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36576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3B8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BEST CHECKPOINT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58600" y="2948940"/>
            <a:ext cx="2743200" cy="576072"/>
            <a:chOff x="0" y="0"/>
            <a:chExt cx="3657600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768096"/>
            </a:xfrm>
            <a:custGeom>
              <a:avLst/>
              <a:gdLst/>
              <a:ahLst/>
              <a:cxnLst/>
              <a:rect r="r" b="b" t="t" l="l"/>
              <a:pathLst>
                <a:path h="76809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85" r="0" b="-4278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6576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Epoch 8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58600" y="3950208"/>
            <a:ext cx="2194560" cy="274320"/>
            <a:chOff x="0" y="0"/>
            <a:chExt cx="2926080" cy="365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0" cy="365760"/>
            </a:xfrm>
            <a:custGeom>
              <a:avLst/>
              <a:gdLst/>
              <a:ahLst/>
              <a:cxnLst/>
              <a:rect r="r" b="b" t="t" l="l"/>
              <a:pathLst>
                <a:path h="3657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9260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Challenge_Avg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716000" y="3771900"/>
            <a:ext cx="2331720" cy="576072"/>
            <a:chOff x="0" y="0"/>
            <a:chExt cx="3108960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08960" cy="768096"/>
            </a:xfrm>
            <a:custGeom>
              <a:avLst/>
              <a:gdLst/>
              <a:ahLst/>
              <a:cxnLst/>
              <a:rect r="r" b="b" t="t" l="l"/>
              <a:pathLst>
                <a:path h="76809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868" r="0" b="-2886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10896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E9B6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0.8346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658600" y="4732020"/>
            <a:ext cx="4389120" cy="1508760"/>
            <a:chOff x="0" y="0"/>
            <a:chExt cx="5852160" cy="2011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521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85216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mA  0.8073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Instance_F1  0.8639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Label_F1  0.6924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Instance_Acc  0.7743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0595" y="7328535"/>
            <a:ext cx="8180070" cy="1527810"/>
            <a:chOff x="0" y="0"/>
            <a:chExt cx="10906760" cy="2037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06760" cy="2037080"/>
            </a:xfrm>
            <a:custGeom>
              <a:avLst/>
              <a:gdLst/>
              <a:ahLst/>
              <a:cxnLst/>
              <a:rect r="r" b="b" t="t" l="l"/>
              <a:pathLst>
                <a:path h="2037080" w="10906760">
                  <a:moveTo>
                    <a:pt x="0" y="92583"/>
                  </a:moveTo>
                  <a:cubicBezTo>
                    <a:pt x="0" y="41402"/>
                    <a:pt x="41402" y="0"/>
                    <a:pt x="92583" y="0"/>
                  </a:cubicBezTo>
                  <a:lnTo>
                    <a:pt x="10814177" y="0"/>
                  </a:lnTo>
                  <a:cubicBezTo>
                    <a:pt x="10865358" y="0"/>
                    <a:pt x="10906760" y="41402"/>
                    <a:pt x="10906760" y="92583"/>
                  </a:cubicBezTo>
                  <a:lnTo>
                    <a:pt x="10906760" y="1944497"/>
                  </a:lnTo>
                  <a:cubicBezTo>
                    <a:pt x="10906760" y="1995678"/>
                    <a:pt x="10865358" y="2037080"/>
                    <a:pt x="10814177" y="2037080"/>
                  </a:cubicBezTo>
                  <a:lnTo>
                    <a:pt x="92583" y="2037080"/>
                  </a:lnTo>
                  <a:cubicBezTo>
                    <a:pt x="41402" y="2037080"/>
                    <a:pt x="0" y="1995678"/>
                    <a:pt x="0" y="19444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50595" y="7328535"/>
            <a:ext cx="101346" cy="1527810"/>
            <a:chOff x="0" y="0"/>
            <a:chExt cx="135128" cy="2037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5128" cy="2037080"/>
            </a:xfrm>
            <a:custGeom>
              <a:avLst/>
              <a:gdLst/>
              <a:ahLst/>
              <a:cxnLst/>
              <a:rect r="r" b="b" t="t" l="l"/>
              <a:pathLst>
                <a:path h="203708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F48A3C"/>
            </a:solidFill>
            <a:ln w="19050" cap="sq">
              <a:solidFill>
                <a:srgbClr val="F48A3C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61872" y="7584948"/>
            <a:ext cx="7667244" cy="384048"/>
            <a:chOff x="0" y="0"/>
            <a:chExt cx="10222992" cy="5120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22992" cy="512064"/>
            </a:xfrm>
            <a:custGeom>
              <a:avLst/>
              <a:gdLst/>
              <a:ahLst/>
              <a:cxnLst/>
              <a:rect r="r" b="b" t="t" l="l"/>
              <a:pathLst>
                <a:path h="512064" w="10222992">
                  <a:moveTo>
                    <a:pt x="0" y="0"/>
                  </a:moveTo>
                  <a:lnTo>
                    <a:pt x="10222992" y="0"/>
                  </a:lnTo>
                  <a:lnTo>
                    <a:pt x="1022299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004" r="0" b="-33900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022299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Training behavior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262129" y="8133845"/>
            <a:ext cx="7639307" cy="52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2530"/>
                </a:solidFill>
                <a:latin typeface="Aptos"/>
                <a:ea typeface="Aptos"/>
                <a:cs typeface="Aptos"/>
                <a:sym typeface="Aptos"/>
              </a:rPr>
              <a:t>Train loss kept falling while validation loss rose after the early epochs → signs of overfitting.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454515" y="7328535"/>
            <a:ext cx="7768590" cy="1527810"/>
            <a:chOff x="0" y="0"/>
            <a:chExt cx="10358120" cy="2037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358120" cy="2037080"/>
            </a:xfrm>
            <a:custGeom>
              <a:avLst/>
              <a:gdLst/>
              <a:ahLst/>
              <a:cxnLst/>
              <a:rect r="r" b="b" t="t" l="l"/>
              <a:pathLst>
                <a:path h="2037080" w="10358120">
                  <a:moveTo>
                    <a:pt x="0" y="92583"/>
                  </a:moveTo>
                  <a:cubicBezTo>
                    <a:pt x="0" y="41402"/>
                    <a:pt x="41402" y="0"/>
                    <a:pt x="92583" y="0"/>
                  </a:cubicBezTo>
                  <a:lnTo>
                    <a:pt x="10265537" y="0"/>
                  </a:lnTo>
                  <a:cubicBezTo>
                    <a:pt x="10316718" y="0"/>
                    <a:pt x="10358120" y="41402"/>
                    <a:pt x="10358120" y="92583"/>
                  </a:cubicBezTo>
                  <a:lnTo>
                    <a:pt x="10358120" y="1944497"/>
                  </a:lnTo>
                  <a:cubicBezTo>
                    <a:pt x="10358120" y="1995678"/>
                    <a:pt x="10316718" y="2037080"/>
                    <a:pt x="10265537" y="2037080"/>
                  </a:cubicBezTo>
                  <a:lnTo>
                    <a:pt x="92583" y="2037080"/>
                  </a:lnTo>
                  <a:cubicBezTo>
                    <a:pt x="41402" y="2037080"/>
                    <a:pt x="0" y="1995678"/>
                    <a:pt x="0" y="19444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454515" y="7328535"/>
            <a:ext cx="101346" cy="1527810"/>
            <a:chOff x="0" y="0"/>
            <a:chExt cx="135128" cy="2037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5128" cy="2037080"/>
            </a:xfrm>
            <a:custGeom>
              <a:avLst/>
              <a:gdLst/>
              <a:ahLst/>
              <a:cxnLst/>
              <a:rect r="r" b="b" t="t" l="l"/>
              <a:pathLst>
                <a:path h="2037080" w="135128">
                  <a:moveTo>
                    <a:pt x="0" y="0"/>
                  </a:moveTo>
                  <a:lnTo>
                    <a:pt x="135128" y="0"/>
                  </a:lnTo>
                  <a:lnTo>
                    <a:pt x="135128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765792" y="7584948"/>
            <a:ext cx="7255764" cy="384048"/>
            <a:chOff x="0" y="0"/>
            <a:chExt cx="9674352" cy="5120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674352" cy="512064"/>
            </a:xfrm>
            <a:custGeom>
              <a:avLst/>
              <a:gdLst/>
              <a:ahLst/>
              <a:cxnLst/>
              <a:rect r="r" b="b" t="t" l="l"/>
              <a:pathLst>
                <a:path h="512064" w="9674352">
                  <a:moveTo>
                    <a:pt x="0" y="0"/>
                  </a:moveTo>
                  <a:lnTo>
                    <a:pt x="9674352" y="0"/>
                  </a:lnTo>
                  <a:lnTo>
                    <a:pt x="967435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128" r="0" b="-31812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967435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Selection rule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766049" y="8133845"/>
            <a:ext cx="7227827" cy="52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A2530"/>
                </a:solidFill>
                <a:latin typeface="Aptos"/>
                <a:ea typeface="Aptos"/>
                <a:cs typeface="Aptos"/>
                <a:sym typeface="Aptos"/>
              </a:rPr>
              <a:t>The final submission uses the epoch-8 checkpoint because it achieved the best validation Challenge_Avg.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785080" y="978408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796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8778"/>
            <a:chOff x="0" y="0"/>
            <a:chExt cx="24408790" cy="1717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71704"/>
            </a:xfrm>
            <a:custGeom>
              <a:avLst/>
              <a:gdLst/>
              <a:ahLst/>
              <a:cxnLst/>
              <a:rect r="r" b="b" t="t" l="l"/>
              <a:pathLst>
                <a:path h="17170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9765792"/>
            <a:ext cx="6858000" cy="274320"/>
            <a:chOff x="0" y="0"/>
            <a:chExt cx="914400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1440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UPAR Challenge 2027 • Track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16000" y="9765792"/>
            <a:ext cx="3909060" cy="274320"/>
            <a:chOff x="0" y="0"/>
            <a:chExt cx="521208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12080" cy="365760"/>
            </a:xfrm>
            <a:custGeom>
              <a:avLst/>
              <a:gdLst/>
              <a:ahLst/>
              <a:cxnLst/>
              <a:rect r="r" b="b" t="t" l="l"/>
              <a:pathLst>
                <a:path h="3657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2120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Computer Vision Assignment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480060"/>
            <a:ext cx="16322040" cy="658368"/>
            <a:chOff x="0" y="0"/>
            <a:chExt cx="21762720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877824"/>
            </a:xfrm>
            <a:custGeom>
              <a:avLst/>
              <a:gdLst/>
              <a:ahLst/>
              <a:cxnLst/>
              <a:rect r="r" b="b" t="t" l="l"/>
              <a:pathLst>
                <a:path h="87782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066" r="0" b="-43306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7627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5. Official Codabench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1812" y="1179576"/>
            <a:ext cx="15773400" cy="411480"/>
            <a:chOff x="0" y="0"/>
            <a:chExt cx="210312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031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Successful hidden-test evaluation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2015" y="1842135"/>
            <a:ext cx="4476750" cy="6808470"/>
            <a:chOff x="0" y="0"/>
            <a:chExt cx="5969000" cy="9077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69000" cy="9077960"/>
            </a:xfrm>
            <a:custGeom>
              <a:avLst/>
              <a:gdLst/>
              <a:ahLst/>
              <a:cxnLst/>
              <a:rect r="r" b="b" t="t" l="l"/>
              <a:pathLst>
                <a:path h="9077960" w="5969000">
                  <a:moveTo>
                    <a:pt x="0" y="994791"/>
                  </a:moveTo>
                  <a:cubicBezTo>
                    <a:pt x="0" y="445389"/>
                    <a:pt x="445389" y="0"/>
                    <a:pt x="994791" y="0"/>
                  </a:cubicBezTo>
                  <a:lnTo>
                    <a:pt x="4974209" y="0"/>
                  </a:lnTo>
                  <a:cubicBezTo>
                    <a:pt x="5523611" y="0"/>
                    <a:pt x="5969000" y="445389"/>
                    <a:pt x="5969000" y="994791"/>
                  </a:cubicBezTo>
                  <a:lnTo>
                    <a:pt x="5969000" y="8083169"/>
                  </a:lnTo>
                  <a:cubicBezTo>
                    <a:pt x="5969000" y="8632571"/>
                    <a:pt x="5523611" y="9077960"/>
                    <a:pt x="4974209" y="9077960"/>
                  </a:cubicBezTo>
                  <a:lnTo>
                    <a:pt x="994791" y="9077960"/>
                  </a:lnTo>
                  <a:cubicBezTo>
                    <a:pt x="445389" y="9077960"/>
                    <a:pt x="0" y="8632571"/>
                    <a:pt x="0" y="8083169"/>
                  </a:cubicBezTo>
                  <a:close/>
                </a:path>
              </a:pathLst>
            </a:custGeom>
            <a:solidFill>
              <a:srgbClr val="153147"/>
            </a:solidFill>
            <a:ln w="19050" cap="sq">
              <a:solidFill>
                <a:srgbClr val="15314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03020" y="2359152"/>
            <a:ext cx="2743200" cy="301752"/>
            <a:chOff x="0" y="0"/>
            <a:chExt cx="3657600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7600" cy="402336"/>
            </a:xfrm>
            <a:custGeom>
              <a:avLst/>
              <a:gdLst/>
              <a:ahLst/>
              <a:cxnLst/>
              <a:rect r="r" b="b" t="t" l="l"/>
              <a:pathLst>
                <a:path h="40233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65760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5D7D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OFFICIAL RESULT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3020" y="2948940"/>
            <a:ext cx="3017520" cy="822960"/>
            <a:chOff x="0" y="0"/>
            <a:chExt cx="402336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402336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0.7021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03020" y="3867912"/>
            <a:ext cx="2743200" cy="342900"/>
            <a:chOff x="0" y="0"/>
            <a:chExt cx="3657600" cy="45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00" cy="457200"/>
            </a:xfrm>
            <a:custGeom>
              <a:avLst/>
              <a:gdLst/>
              <a:ahLst/>
              <a:cxnLst/>
              <a:rect r="r" b="b" t="t" l="l"/>
              <a:pathLst>
                <a:path h="457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6576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9D8DF"/>
                  </a:solidFill>
                  <a:latin typeface="Aptos"/>
                  <a:ea typeface="Aptos"/>
                  <a:cs typeface="Aptos"/>
                  <a:sym typeface="Aptos"/>
                </a:rPr>
                <a:t>Challenge score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03020" y="4800600"/>
            <a:ext cx="2880360" cy="960120"/>
            <a:chOff x="0" y="0"/>
            <a:chExt cx="384048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40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84048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Submission ID</a:t>
              </a: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1004995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03020" y="6103620"/>
            <a:ext cx="2880360" cy="891540"/>
            <a:chOff x="0" y="0"/>
            <a:chExt cx="3840480" cy="1188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404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840480" cy="1188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Status</a:t>
              </a:r>
            </a:p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Finished ✓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760720" y="1988820"/>
            <a:ext cx="11590020" cy="6515100"/>
            <a:chOff x="0" y="0"/>
            <a:chExt cx="15453360" cy="8686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453361" cy="8686800"/>
            </a:xfrm>
            <a:custGeom>
              <a:avLst/>
              <a:gdLst/>
              <a:ahLst/>
              <a:cxnLst/>
              <a:rect r="r" b="b" t="t" l="l"/>
              <a:pathLst>
                <a:path h="8686800" w="15453361">
                  <a:moveTo>
                    <a:pt x="0" y="0"/>
                  </a:moveTo>
                  <a:lnTo>
                    <a:pt x="15453361" y="0"/>
                  </a:lnTo>
                  <a:lnTo>
                    <a:pt x="15453361" y="8686800"/>
                  </a:lnTo>
                  <a:lnTo>
                    <a:pt x="0" y="868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072" t="0" r="-6072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966460" y="8778240"/>
            <a:ext cx="5486400" cy="411480"/>
            <a:chOff x="0" y="0"/>
            <a:chExt cx="73152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7315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Validation 0.8346 → Hidden test 0.7021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041380" y="8695944"/>
            <a:ext cx="6103620" cy="617220"/>
            <a:chOff x="0" y="0"/>
            <a:chExt cx="813816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38160" cy="822960"/>
            </a:xfrm>
            <a:custGeom>
              <a:avLst/>
              <a:gdLst/>
              <a:ahLst/>
              <a:cxnLst/>
              <a:rect r="r" b="b" t="t" l="l"/>
              <a:pathLst>
                <a:path h="822960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685" r="0" b="-14268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813816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The gap is consistent with the challenge’s core difficulty: generalizing to an unseen surveillance domain.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7785080" y="978408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796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8778"/>
            <a:chOff x="0" y="0"/>
            <a:chExt cx="24408790" cy="1717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71704"/>
            </a:xfrm>
            <a:custGeom>
              <a:avLst/>
              <a:gdLst/>
              <a:ahLst/>
              <a:cxnLst/>
              <a:rect r="r" b="b" t="t" l="l"/>
              <a:pathLst>
                <a:path h="17170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9765792"/>
            <a:ext cx="6858000" cy="274320"/>
            <a:chOff x="0" y="0"/>
            <a:chExt cx="914400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1440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UPAR Challenge 2027 • Track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16000" y="9765792"/>
            <a:ext cx="3909060" cy="274320"/>
            <a:chOff x="0" y="0"/>
            <a:chExt cx="521208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12080" cy="365760"/>
            </a:xfrm>
            <a:custGeom>
              <a:avLst/>
              <a:gdLst/>
              <a:ahLst/>
              <a:cxnLst/>
              <a:rect r="r" b="b" t="t" l="l"/>
              <a:pathLst>
                <a:path h="3657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2120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Computer Vision Assignment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480060"/>
            <a:ext cx="16322040" cy="658368"/>
            <a:chOff x="0" y="0"/>
            <a:chExt cx="21762720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877824"/>
            </a:xfrm>
            <a:custGeom>
              <a:avLst/>
              <a:gdLst/>
              <a:ahLst/>
              <a:cxnLst/>
              <a:rect r="r" b="b" t="t" l="l"/>
              <a:pathLst>
                <a:path h="87782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066" r="0" b="-43306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7627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6. Challenges Encountered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1812" y="1179576"/>
            <a:ext cx="15773400" cy="411480"/>
            <a:chOff x="0" y="0"/>
            <a:chExt cx="210312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031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What limited performance and what we learned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0595" y="1910715"/>
            <a:ext cx="7768590" cy="1870710"/>
            <a:chOff x="0" y="0"/>
            <a:chExt cx="10358120" cy="2494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581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358120">
                  <a:moveTo>
                    <a:pt x="0" y="415671"/>
                  </a:moveTo>
                  <a:cubicBezTo>
                    <a:pt x="0" y="186182"/>
                    <a:pt x="186182" y="0"/>
                    <a:pt x="415671" y="0"/>
                  </a:cubicBezTo>
                  <a:lnTo>
                    <a:pt x="9942449" y="0"/>
                  </a:lnTo>
                  <a:cubicBezTo>
                    <a:pt x="10172065" y="0"/>
                    <a:pt x="10358120" y="186182"/>
                    <a:pt x="10358120" y="415671"/>
                  </a:cubicBezTo>
                  <a:lnTo>
                    <a:pt x="10358120" y="2078609"/>
                  </a:lnTo>
                  <a:cubicBezTo>
                    <a:pt x="10358120" y="2308225"/>
                    <a:pt x="10171938" y="2494280"/>
                    <a:pt x="9942449" y="2494280"/>
                  </a:cubicBezTo>
                  <a:lnTo>
                    <a:pt x="415671" y="2494280"/>
                  </a:lnTo>
                  <a:cubicBezTo>
                    <a:pt x="186182" y="2494280"/>
                    <a:pt x="0" y="2308098"/>
                    <a:pt x="0" y="207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93495" y="2267331"/>
            <a:ext cx="649986" cy="649986"/>
            <a:chOff x="0" y="0"/>
            <a:chExt cx="866648" cy="8666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F48A3C"/>
            </a:solidFill>
            <a:ln w="19050" cap="sq">
              <a:solidFill>
                <a:srgbClr val="F48A3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194560" y="2194560"/>
            <a:ext cx="3566160" cy="411480"/>
            <a:chOff x="0" y="0"/>
            <a:chExt cx="475488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Class imbalance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94560" y="2715768"/>
            <a:ext cx="5966460" cy="685800"/>
            <a:chOff x="0" y="0"/>
            <a:chExt cx="795528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55280" cy="914400"/>
            </a:xfrm>
            <a:custGeom>
              <a:avLst/>
              <a:gdLst/>
              <a:ahLst/>
              <a:cxnLst/>
              <a:rect r="r" b="b" t="t" l="l"/>
              <a:pathLst>
                <a:path h="91440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519" r="0" b="-11951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7955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Some attributes are extremely rare, making standard BCE favor frequent labels.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17355" y="1910715"/>
            <a:ext cx="7768590" cy="1870710"/>
            <a:chOff x="0" y="0"/>
            <a:chExt cx="10358120" cy="2494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3581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358120">
                  <a:moveTo>
                    <a:pt x="0" y="415671"/>
                  </a:moveTo>
                  <a:cubicBezTo>
                    <a:pt x="0" y="186182"/>
                    <a:pt x="186182" y="0"/>
                    <a:pt x="415671" y="0"/>
                  </a:cubicBezTo>
                  <a:lnTo>
                    <a:pt x="9942449" y="0"/>
                  </a:lnTo>
                  <a:cubicBezTo>
                    <a:pt x="10172065" y="0"/>
                    <a:pt x="10358120" y="186182"/>
                    <a:pt x="10358120" y="415671"/>
                  </a:cubicBezTo>
                  <a:lnTo>
                    <a:pt x="10358120" y="2078609"/>
                  </a:lnTo>
                  <a:cubicBezTo>
                    <a:pt x="10358120" y="2308225"/>
                    <a:pt x="10171938" y="2494280"/>
                    <a:pt x="9942449" y="2494280"/>
                  </a:cubicBezTo>
                  <a:lnTo>
                    <a:pt x="415671" y="2494280"/>
                  </a:lnTo>
                  <a:cubicBezTo>
                    <a:pt x="186182" y="2494280"/>
                    <a:pt x="0" y="2308098"/>
                    <a:pt x="0" y="207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660255" y="2267331"/>
            <a:ext cx="649986" cy="649986"/>
            <a:chOff x="0" y="0"/>
            <a:chExt cx="866648" cy="8666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D65353"/>
            </a:solidFill>
            <a:ln w="19050" cap="sq">
              <a:solidFill>
                <a:srgbClr val="D6535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561320" y="2194560"/>
            <a:ext cx="3566160" cy="411480"/>
            <a:chOff x="0" y="0"/>
            <a:chExt cx="475488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Domain shift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561320" y="2715768"/>
            <a:ext cx="5966460" cy="685800"/>
            <a:chOff x="0" y="0"/>
            <a:chExt cx="795528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955280" cy="914400"/>
            </a:xfrm>
            <a:custGeom>
              <a:avLst/>
              <a:gdLst/>
              <a:ahLst/>
              <a:cxnLst/>
              <a:rect r="r" b="b" t="t" l="l"/>
              <a:pathLst>
                <a:path h="91440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519" r="0" b="-11951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7955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Camera, lighting, resolution and background changes reduce hidden-test generalization.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0595" y="4269867"/>
            <a:ext cx="7768590" cy="1870710"/>
            <a:chOff x="0" y="0"/>
            <a:chExt cx="10358120" cy="2494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3581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358120">
                  <a:moveTo>
                    <a:pt x="0" y="415671"/>
                  </a:moveTo>
                  <a:cubicBezTo>
                    <a:pt x="0" y="186182"/>
                    <a:pt x="186182" y="0"/>
                    <a:pt x="415671" y="0"/>
                  </a:cubicBezTo>
                  <a:lnTo>
                    <a:pt x="9942449" y="0"/>
                  </a:lnTo>
                  <a:cubicBezTo>
                    <a:pt x="10172065" y="0"/>
                    <a:pt x="10358120" y="186182"/>
                    <a:pt x="10358120" y="415671"/>
                  </a:cubicBezTo>
                  <a:lnTo>
                    <a:pt x="10358120" y="2078609"/>
                  </a:lnTo>
                  <a:cubicBezTo>
                    <a:pt x="10358120" y="2308225"/>
                    <a:pt x="10171938" y="2494280"/>
                    <a:pt x="9942449" y="2494280"/>
                  </a:cubicBezTo>
                  <a:lnTo>
                    <a:pt x="415671" y="2494280"/>
                  </a:lnTo>
                  <a:cubicBezTo>
                    <a:pt x="186182" y="2494280"/>
                    <a:pt x="0" y="2308098"/>
                    <a:pt x="0" y="207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93495" y="4626483"/>
            <a:ext cx="649986" cy="649986"/>
            <a:chOff x="0" y="0"/>
            <a:chExt cx="866648" cy="8666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2194560" y="4553712"/>
            <a:ext cx="3566160" cy="411480"/>
            <a:chOff x="0" y="0"/>
            <a:chExt cx="475488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Small visual details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194560" y="5074920"/>
            <a:ext cx="5966460" cy="685800"/>
            <a:chOff x="0" y="0"/>
            <a:chExt cx="795528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955280" cy="914400"/>
            </a:xfrm>
            <a:custGeom>
              <a:avLst/>
              <a:gdLst/>
              <a:ahLst/>
              <a:cxnLst/>
              <a:rect r="r" b="b" t="t" l="l"/>
              <a:pathLst>
                <a:path h="91440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519" r="0" b="-11951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7955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Glasses, hats, hair and subtle colors can occupy only a few pixels.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17355" y="4269867"/>
            <a:ext cx="7768590" cy="1870710"/>
            <a:chOff x="0" y="0"/>
            <a:chExt cx="10358120" cy="2494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3581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358120">
                  <a:moveTo>
                    <a:pt x="0" y="415671"/>
                  </a:moveTo>
                  <a:cubicBezTo>
                    <a:pt x="0" y="186182"/>
                    <a:pt x="186182" y="0"/>
                    <a:pt x="415671" y="0"/>
                  </a:cubicBezTo>
                  <a:lnTo>
                    <a:pt x="9942449" y="0"/>
                  </a:lnTo>
                  <a:cubicBezTo>
                    <a:pt x="10172065" y="0"/>
                    <a:pt x="10358120" y="186182"/>
                    <a:pt x="10358120" y="415671"/>
                  </a:cubicBezTo>
                  <a:lnTo>
                    <a:pt x="10358120" y="2078609"/>
                  </a:lnTo>
                  <a:cubicBezTo>
                    <a:pt x="10358120" y="2308225"/>
                    <a:pt x="10171938" y="2494280"/>
                    <a:pt x="9942449" y="2494280"/>
                  </a:cubicBezTo>
                  <a:lnTo>
                    <a:pt x="415671" y="2494280"/>
                  </a:lnTo>
                  <a:cubicBezTo>
                    <a:pt x="186182" y="2494280"/>
                    <a:pt x="0" y="2308098"/>
                    <a:pt x="0" y="207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660255" y="4626483"/>
            <a:ext cx="649986" cy="649986"/>
            <a:chOff x="0" y="0"/>
            <a:chExt cx="866648" cy="8666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F48A3C"/>
            </a:solidFill>
            <a:ln w="19050" cap="sq">
              <a:solidFill>
                <a:srgbClr val="F48A3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561320" y="4553712"/>
            <a:ext cx="3566160" cy="411480"/>
            <a:chOff x="0" y="0"/>
            <a:chExt cx="475488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Overfitting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561320" y="5074920"/>
            <a:ext cx="5966460" cy="685800"/>
            <a:chOff x="0" y="0"/>
            <a:chExt cx="795528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955280" cy="914400"/>
            </a:xfrm>
            <a:custGeom>
              <a:avLst/>
              <a:gdLst/>
              <a:ahLst/>
              <a:cxnLst/>
              <a:rect r="r" b="b" t="t" l="l"/>
              <a:pathLst>
                <a:path h="91440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519" r="0" b="-11951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7955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Validation loss increased in later epochs even while training loss improved.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50595" y="6629019"/>
            <a:ext cx="7768590" cy="1870710"/>
            <a:chOff x="0" y="0"/>
            <a:chExt cx="10358120" cy="2494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3581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358120">
                  <a:moveTo>
                    <a:pt x="0" y="415671"/>
                  </a:moveTo>
                  <a:cubicBezTo>
                    <a:pt x="0" y="186182"/>
                    <a:pt x="186182" y="0"/>
                    <a:pt x="415671" y="0"/>
                  </a:cubicBezTo>
                  <a:lnTo>
                    <a:pt x="9942449" y="0"/>
                  </a:lnTo>
                  <a:cubicBezTo>
                    <a:pt x="10172065" y="0"/>
                    <a:pt x="10358120" y="186182"/>
                    <a:pt x="10358120" y="415671"/>
                  </a:cubicBezTo>
                  <a:lnTo>
                    <a:pt x="10358120" y="2078609"/>
                  </a:lnTo>
                  <a:cubicBezTo>
                    <a:pt x="10358120" y="2308225"/>
                    <a:pt x="10171938" y="2494280"/>
                    <a:pt x="9942449" y="2494280"/>
                  </a:cubicBezTo>
                  <a:lnTo>
                    <a:pt x="415671" y="2494280"/>
                  </a:lnTo>
                  <a:cubicBezTo>
                    <a:pt x="186182" y="2494280"/>
                    <a:pt x="0" y="2308098"/>
                    <a:pt x="0" y="207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93495" y="6985635"/>
            <a:ext cx="649986" cy="649986"/>
            <a:chOff x="0" y="0"/>
            <a:chExt cx="866648" cy="8666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2194560" y="6912864"/>
            <a:ext cx="3566160" cy="411480"/>
            <a:chOff x="0" y="0"/>
            <a:chExt cx="475488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Dataset setup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194560" y="7434072"/>
            <a:ext cx="5966460" cy="685800"/>
            <a:chOff x="0" y="0"/>
            <a:chExt cx="795528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955280" cy="914400"/>
            </a:xfrm>
            <a:custGeom>
              <a:avLst/>
              <a:gdLst/>
              <a:ahLst/>
              <a:cxnLst/>
              <a:rect r="r" b="b" t="t" l="l"/>
              <a:pathLst>
                <a:path h="91440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519" r="0" b="-11951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7955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Windows path/downloader issues required small compatibility fixes.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317355" y="6629019"/>
            <a:ext cx="7768590" cy="1870710"/>
            <a:chOff x="0" y="0"/>
            <a:chExt cx="10358120" cy="2494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358120" cy="2494280"/>
            </a:xfrm>
            <a:custGeom>
              <a:avLst/>
              <a:gdLst/>
              <a:ahLst/>
              <a:cxnLst/>
              <a:rect r="r" b="b" t="t" l="l"/>
              <a:pathLst>
                <a:path h="2494280" w="10358120">
                  <a:moveTo>
                    <a:pt x="0" y="415671"/>
                  </a:moveTo>
                  <a:cubicBezTo>
                    <a:pt x="0" y="186182"/>
                    <a:pt x="186182" y="0"/>
                    <a:pt x="415671" y="0"/>
                  </a:cubicBezTo>
                  <a:lnTo>
                    <a:pt x="9942449" y="0"/>
                  </a:lnTo>
                  <a:cubicBezTo>
                    <a:pt x="10172065" y="0"/>
                    <a:pt x="10358120" y="186182"/>
                    <a:pt x="10358120" y="415671"/>
                  </a:cubicBezTo>
                  <a:lnTo>
                    <a:pt x="10358120" y="2078609"/>
                  </a:lnTo>
                  <a:cubicBezTo>
                    <a:pt x="10358120" y="2308225"/>
                    <a:pt x="10171938" y="2494280"/>
                    <a:pt x="9942449" y="2494280"/>
                  </a:cubicBezTo>
                  <a:lnTo>
                    <a:pt x="415671" y="2494280"/>
                  </a:lnTo>
                  <a:cubicBezTo>
                    <a:pt x="186182" y="2494280"/>
                    <a:pt x="0" y="2308098"/>
                    <a:pt x="0" y="207860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4EA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660255" y="6985635"/>
            <a:ext cx="649986" cy="649986"/>
            <a:chOff x="0" y="0"/>
            <a:chExt cx="866648" cy="8666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66648" cy="866648"/>
            </a:xfrm>
            <a:custGeom>
              <a:avLst/>
              <a:gdLst/>
              <a:ahLst/>
              <a:cxnLst/>
              <a:rect r="r" b="b" t="t" l="l"/>
              <a:pathLst>
                <a:path h="866648" w="866648">
                  <a:moveTo>
                    <a:pt x="0" y="433324"/>
                  </a:moveTo>
                  <a:cubicBezTo>
                    <a:pt x="0" y="194056"/>
                    <a:pt x="194056" y="0"/>
                    <a:pt x="433324" y="0"/>
                  </a:cubicBezTo>
                  <a:cubicBezTo>
                    <a:pt x="672592" y="0"/>
                    <a:pt x="866648" y="194056"/>
                    <a:pt x="866648" y="433324"/>
                  </a:cubicBezTo>
                  <a:cubicBezTo>
                    <a:pt x="866648" y="672592"/>
                    <a:pt x="672592" y="866648"/>
                    <a:pt x="433324" y="866648"/>
                  </a:cubicBezTo>
                  <a:cubicBezTo>
                    <a:pt x="194056" y="866648"/>
                    <a:pt x="0" y="672592"/>
                    <a:pt x="0" y="433324"/>
                  </a:cubicBezTo>
                  <a:close/>
                </a:path>
              </a:pathLst>
            </a:custGeom>
            <a:solidFill>
              <a:srgbClr val="D65353"/>
            </a:solidFill>
            <a:ln w="19050" cap="sq">
              <a:solidFill>
                <a:srgbClr val="D65353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0561320" y="6912864"/>
            <a:ext cx="3566160" cy="411480"/>
            <a:chOff x="0" y="0"/>
            <a:chExt cx="475488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4754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Submission constraints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561320" y="7434072"/>
            <a:ext cx="5966460" cy="685800"/>
            <a:chOff x="0" y="0"/>
            <a:chExt cx="7955280" cy="91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955280" cy="914400"/>
            </a:xfrm>
            <a:custGeom>
              <a:avLst/>
              <a:gdLst/>
              <a:ahLst/>
              <a:cxnLst/>
              <a:rect r="r" b="b" t="t" l="l"/>
              <a:pathLst>
                <a:path h="91440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519" r="0" b="-119519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79552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The model had to run offline in the provided PyTorch environment within the runtime limit.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7785080" y="978408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796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8778"/>
            <a:chOff x="0" y="0"/>
            <a:chExt cx="24408790" cy="1717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71704"/>
            </a:xfrm>
            <a:custGeom>
              <a:avLst/>
              <a:gdLst/>
              <a:ahLst/>
              <a:cxnLst/>
              <a:rect r="r" b="b" t="t" l="l"/>
              <a:pathLst>
                <a:path h="171704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71704"/>
                  </a:lnTo>
                  <a:lnTo>
                    <a:pt x="0" y="171704"/>
                  </a:ln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9765792"/>
            <a:ext cx="6858000" cy="274320"/>
            <a:chOff x="0" y="0"/>
            <a:chExt cx="914400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14400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UPAR Challenge 2027 • Track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16000" y="9765792"/>
            <a:ext cx="3909060" cy="274320"/>
            <a:chOff x="0" y="0"/>
            <a:chExt cx="5212080" cy="3657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12080" cy="365760"/>
            </a:xfrm>
            <a:custGeom>
              <a:avLst/>
              <a:gdLst/>
              <a:ahLst/>
              <a:cxnLst/>
              <a:rect r="r" b="b" t="t" l="l"/>
              <a:pathLst>
                <a:path h="36576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52120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7A8796"/>
                  </a:solidFill>
                  <a:latin typeface="Aptos"/>
                  <a:ea typeface="Aptos"/>
                  <a:cs typeface="Aptos"/>
                  <a:sym typeface="Aptos"/>
                </a:rPr>
                <a:t>Computer Vision Assignment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480060"/>
            <a:ext cx="16322040" cy="658368"/>
            <a:chOff x="0" y="0"/>
            <a:chExt cx="21762720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62720" cy="877824"/>
            </a:xfrm>
            <a:custGeom>
              <a:avLst/>
              <a:gdLst/>
              <a:ahLst/>
              <a:cxnLst/>
              <a:rect r="r" b="b" t="t" l="l"/>
              <a:pathLst>
                <a:path h="877824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066" r="0" b="-43306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7627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7. Improvements &amp; Conclusion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1812" y="1179576"/>
            <a:ext cx="15773400" cy="411480"/>
            <a:chOff x="0" y="0"/>
            <a:chExt cx="210312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031200" cy="548640"/>
            </a:xfrm>
            <a:custGeom>
              <a:avLst/>
              <a:gdLst/>
              <a:ahLst/>
              <a:cxnLst/>
              <a:rect r="r" b="b" t="t" l="l"/>
              <a:pathLst>
                <a:path h="5486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26" r="0" b="-6969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10312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617081"/>
                  </a:solidFill>
                  <a:latin typeface="Aptos"/>
                  <a:ea typeface="Aptos"/>
                  <a:cs typeface="Aptos"/>
                  <a:sym typeface="Aptos"/>
                </a:rPr>
                <a:t>Next experiments should target imbalance and domain generalization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0120" y="1851660"/>
            <a:ext cx="5760720" cy="438912"/>
            <a:chOff x="0" y="0"/>
            <a:chExt cx="7680960" cy="5852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80960" cy="585216"/>
            </a:xfrm>
            <a:custGeom>
              <a:avLst/>
              <a:gdLst/>
              <a:ahLst/>
              <a:cxnLst/>
              <a:rect r="r" b="b" t="t" l="l"/>
              <a:pathLst>
                <a:path h="585216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0" b="-20574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6809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Most useful next experiments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5187" y="2527935"/>
            <a:ext cx="540258" cy="540258"/>
            <a:chOff x="0" y="0"/>
            <a:chExt cx="720344" cy="7203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F48A3C"/>
            </a:solidFill>
            <a:ln w="19050" cap="sq">
              <a:solidFill>
                <a:srgbClr val="F48A3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24712" y="2633472"/>
            <a:ext cx="521208" cy="219456"/>
            <a:chOff x="0" y="0"/>
            <a:chExt cx="694944" cy="2926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4944" cy="292608"/>
            </a:xfrm>
            <a:custGeom>
              <a:avLst/>
              <a:gdLst/>
              <a:ahLst/>
              <a:cxnLst/>
              <a:rect r="r" b="b" t="t" l="l"/>
              <a:pathLst>
                <a:path h="292608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94944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92808" y="2564892"/>
            <a:ext cx="7132320" cy="438912"/>
            <a:chOff x="0" y="0"/>
            <a:chExt cx="9509760" cy="5852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09760" cy="585216"/>
            </a:xfrm>
            <a:custGeom>
              <a:avLst/>
              <a:gdLst/>
              <a:ahLst/>
              <a:cxnLst/>
              <a:rect r="r" b="b" t="t" l="l"/>
              <a:pathLst>
                <a:path h="58521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95097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Class-weighted BCE / focal / asymmetric loss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15187" y="3515487"/>
            <a:ext cx="540258" cy="540258"/>
            <a:chOff x="0" y="0"/>
            <a:chExt cx="720344" cy="7203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24712" y="3621024"/>
            <a:ext cx="521208" cy="219456"/>
            <a:chOff x="0" y="0"/>
            <a:chExt cx="694944" cy="2926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4944" cy="292608"/>
            </a:xfrm>
            <a:custGeom>
              <a:avLst/>
              <a:gdLst/>
              <a:ahLst/>
              <a:cxnLst/>
              <a:rect r="r" b="b" t="t" l="l"/>
              <a:pathLst>
                <a:path h="292608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94944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92808" y="3552444"/>
            <a:ext cx="7132320" cy="438912"/>
            <a:chOff x="0" y="0"/>
            <a:chExt cx="950976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0" cy="585216"/>
            </a:xfrm>
            <a:custGeom>
              <a:avLst/>
              <a:gdLst/>
              <a:ahLst/>
              <a:cxnLst/>
              <a:rect r="r" b="b" t="t" l="l"/>
              <a:pathLst>
                <a:path h="58521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95097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Stronger augmentation + random erasing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15187" y="4503039"/>
            <a:ext cx="540258" cy="540258"/>
            <a:chOff x="0" y="0"/>
            <a:chExt cx="720344" cy="7203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24712" y="4608576"/>
            <a:ext cx="521208" cy="219456"/>
            <a:chOff x="0" y="0"/>
            <a:chExt cx="694944" cy="2926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4944" cy="292608"/>
            </a:xfrm>
            <a:custGeom>
              <a:avLst/>
              <a:gdLst/>
              <a:ahLst/>
              <a:cxnLst/>
              <a:rect r="r" b="b" t="t" l="l"/>
              <a:pathLst>
                <a:path h="292608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94944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892808" y="4539996"/>
            <a:ext cx="7132320" cy="438912"/>
            <a:chOff x="0" y="0"/>
            <a:chExt cx="9509760" cy="5852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09760" cy="585216"/>
            </a:xfrm>
            <a:custGeom>
              <a:avLst/>
              <a:gdLst/>
              <a:ahLst/>
              <a:cxnLst/>
              <a:rect r="r" b="b" t="t" l="l"/>
              <a:pathLst>
                <a:path h="58521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95097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ConvNeXt / Vision Transformer backbone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15187" y="5490591"/>
            <a:ext cx="540258" cy="540258"/>
            <a:chOff x="0" y="0"/>
            <a:chExt cx="720344" cy="7203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24712" y="5596128"/>
            <a:ext cx="521208" cy="219456"/>
            <a:chOff x="0" y="0"/>
            <a:chExt cx="694944" cy="2926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4944" cy="292608"/>
            </a:xfrm>
            <a:custGeom>
              <a:avLst/>
              <a:gdLst/>
              <a:ahLst/>
              <a:cxnLst/>
              <a:rect r="r" b="b" t="t" l="l"/>
              <a:pathLst>
                <a:path h="292608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94944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892808" y="5527548"/>
            <a:ext cx="7132320" cy="438912"/>
            <a:chOff x="0" y="0"/>
            <a:chExt cx="9509760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09760" cy="585216"/>
            </a:xfrm>
            <a:custGeom>
              <a:avLst/>
              <a:gdLst/>
              <a:ahLst/>
              <a:cxnLst/>
              <a:rect r="r" b="b" t="t" l="l"/>
              <a:pathLst>
                <a:path h="58521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95097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Attribute-specific attention or ensemble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15187" y="6478143"/>
            <a:ext cx="540258" cy="540258"/>
            <a:chOff x="0" y="0"/>
            <a:chExt cx="720344" cy="7203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13B8B5"/>
            </a:solidFill>
            <a:ln w="19050" cap="sq">
              <a:solidFill>
                <a:srgbClr val="13B8B5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124712" y="6583680"/>
            <a:ext cx="521208" cy="219456"/>
            <a:chOff x="0" y="0"/>
            <a:chExt cx="694944" cy="2926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94944" cy="292608"/>
            </a:xfrm>
            <a:custGeom>
              <a:avLst/>
              <a:gdLst/>
              <a:ahLst/>
              <a:cxnLst/>
              <a:rect r="r" b="b" t="t" l="l"/>
              <a:pathLst>
                <a:path h="292608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694944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892808" y="6515100"/>
            <a:ext cx="7132320" cy="438912"/>
            <a:chOff x="0" y="0"/>
            <a:chExt cx="9509760" cy="5852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09760" cy="585216"/>
            </a:xfrm>
            <a:custGeom>
              <a:avLst/>
              <a:gdLst/>
              <a:ahLst/>
              <a:cxnLst/>
              <a:rect r="r" b="b" t="t" l="l"/>
              <a:pathLst>
                <a:path h="585216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950976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A2530"/>
                  </a:solidFill>
                  <a:latin typeface="Aptos"/>
                  <a:ea typeface="Aptos"/>
                  <a:cs typeface="Aptos"/>
                  <a:sym typeface="Aptos"/>
                </a:rPr>
                <a:t>Probability calibration on validation data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728835" y="1842135"/>
            <a:ext cx="7357110" cy="6602730"/>
            <a:chOff x="0" y="0"/>
            <a:chExt cx="9809480" cy="8803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809480" cy="8803639"/>
            </a:xfrm>
            <a:custGeom>
              <a:avLst/>
              <a:gdLst/>
              <a:ahLst/>
              <a:cxnLst/>
              <a:rect r="r" b="b" t="t" l="l"/>
              <a:pathLst>
                <a:path h="8803639" w="9809480">
                  <a:moveTo>
                    <a:pt x="0" y="1467358"/>
                  </a:moveTo>
                  <a:cubicBezTo>
                    <a:pt x="0" y="656971"/>
                    <a:pt x="656971" y="0"/>
                    <a:pt x="1467358" y="0"/>
                  </a:cubicBezTo>
                  <a:lnTo>
                    <a:pt x="8342122" y="0"/>
                  </a:lnTo>
                  <a:cubicBezTo>
                    <a:pt x="9152509" y="0"/>
                    <a:pt x="9809480" y="656971"/>
                    <a:pt x="9809480" y="1467358"/>
                  </a:cubicBezTo>
                  <a:lnTo>
                    <a:pt x="9809480" y="7336282"/>
                  </a:lnTo>
                  <a:cubicBezTo>
                    <a:pt x="9809480" y="8146669"/>
                    <a:pt x="9152510" y="8803639"/>
                    <a:pt x="8342123" y="8803639"/>
                  </a:cubicBezTo>
                  <a:lnTo>
                    <a:pt x="1467358" y="8803639"/>
                  </a:lnTo>
                  <a:cubicBezTo>
                    <a:pt x="656971" y="8803640"/>
                    <a:pt x="0" y="8146669"/>
                    <a:pt x="0" y="7336282"/>
                  </a:cubicBezTo>
                  <a:close/>
                </a:path>
              </a:pathLst>
            </a:custGeom>
            <a:solidFill>
              <a:srgbClr val="153147"/>
            </a:solidFill>
            <a:ln w="19050" cap="sq">
              <a:solidFill>
                <a:srgbClr val="153147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218420" y="2400300"/>
            <a:ext cx="3017520" cy="315468"/>
            <a:chOff x="0" y="0"/>
            <a:chExt cx="4023360" cy="42062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23360" cy="420624"/>
            </a:xfrm>
            <a:custGeom>
              <a:avLst/>
              <a:gdLst/>
              <a:ahLst/>
              <a:cxnLst/>
              <a:rect r="r" b="b" t="t" l="l"/>
              <a:pathLst>
                <a:path h="42062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378" r="0" b="-13637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023360" cy="4206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A5D7D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OUTCOME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218420" y="2948940"/>
            <a:ext cx="5966460" cy="1303020"/>
            <a:chOff x="0" y="0"/>
            <a:chExt cx="7955280" cy="1737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955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20" r="0" b="-3922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7955280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complete end-to-end pipeline was implemented, evaluated, packaged and successfully submitted.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218420" y="4732020"/>
            <a:ext cx="2880360" cy="301752"/>
            <a:chOff x="0" y="0"/>
            <a:chExt cx="3840480" cy="4023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840480" cy="402336"/>
            </a:xfrm>
            <a:custGeom>
              <a:avLst/>
              <a:gdLst/>
              <a:ahLst/>
              <a:cxnLst/>
              <a:rect r="r" b="b" t="t" l="l"/>
              <a:pathLst>
                <a:path h="402336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993" r="0" b="-13599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384048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BDD0D9"/>
                  </a:solidFill>
                  <a:latin typeface="Aptos"/>
                  <a:ea typeface="Aptos"/>
                  <a:cs typeface="Aptos"/>
                  <a:sym typeface="Aptos"/>
                </a:rPr>
                <a:t>Best validation score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194792" y="4498848"/>
            <a:ext cx="2331720" cy="548640"/>
            <a:chOff x="0" y="0"/>
            <a:chExt cx="310896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108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77D8D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0.8346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218420" y="5692140"/>
            <a:ext cx="2880360" cy="301752"/>
            <a:chOff x="0" y="0"/>
            <a:chExt cx="3840480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840480" cy="402336"/>
            </a:xfrm>
            <a:custGeom>
              <a:avLst/>
              <a:gdLst/>
              <a:ahLst/>
              <a:cxnLst/>
              <a:rect r="r" b="b" t="t" l="l"/>
              <a:pathLst>
                <a:path h="402336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993" r="0" b="-13599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84048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BDD0D9"/>
                  </a:solidFill>
                  <a:latin typeface="Aptos"/>
                  <a:ea typeface="Aptos"/>
                  <a:cs typeface="Aptos"/>
                  <a:sym typeface="Aptos"/>
                </a:rPr>
                <a:t>Official hidden-test score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194792" y="5458968"/>
            <a:ext cx="2331720" cy="548640"/>
            <a:chOff x="0" y="0"/>
            <a:chExt cx="310896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31089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B17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0.7021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218420" y="6789420"/>
            <a:ext cx="1645920" cy="301752"/>
            <a:chOff x="0" y="0"/>
            <a:chExt cx="2194560" cy="40233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194560" cy="402336"/>
            </a:xfrm>
            <a:custGeom>
              <a:avLst/>
              <a:gdLst/>
              <a:ahLst/>
              <a:cxnLst/>
              <a:rect r="r" b="b" t="t" l="l"/>
              <a:pathLst>
                <a:path h="40233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282" r="0" b="-5628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219456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BDD0D9"/>
                  </a:solidFill>
                  <a:latin typeface="Aptos"/>
                  <a:ea typeface="Aptos"/>
                  <a:cs typeface="Aptos"/>
                  <a:sym typeface="Aptos"/>
                </a:rPr>
                <a:t>Key learning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864340" y="6638544"/>
            <a:ext cx="4389120" cy="795528"/>
            <a:chOff x="0" y="0"/>
            <a:chExt cx="5852160" cy="106070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8521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03" r="0" b="-5750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9525"/>
              <a:ext cx="5852160" cy="1051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Good validation performance does not guarantee cross-domain performance.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60120" y="8709660"/>
            <a:ext cx="2743200" cy="617220"/>
            <a:chOff x="0" y="0"/>
            <a:chExt cx="3657600" cy="8229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657600" cy="822960"/>
            </a:xfrm>
            <a:custGeom>
              <a:avLst/>
              <a:gdLst/>
              <a:ahLst/>
              <a:cxnLst/>
              <a:rect r="r" b="b" t="t" l="l"/>
              <a:pathLst>
                <a:path h="8229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6576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5314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3497580" y="8805672"/>
            <a:ext cx="1920240" cy="411480"/>
            <a:chOff x="0" y="0"/>
            <a:chExt cx="256032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3B8B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Questions?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17785080" y="9784080"/>
            <a:ext cx="1017118" cy="35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8796"/>
                </a:solidFill>
                <a:latin typeface="Aptos"/>
                <a:ea typeface="Aptos"/>
                <a:cs typeface="Aptos"/>
                <a:sym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DAHYjRUdQjw</dc:identifier>
  <dcterms:modified xsi:type="dcterms:W3CDTF">2011-08-01T06:04:30Z</dcterms:modified>
  <cp:revision>1</cp:revision>
  <dc:title>UPAR_Track1_Presentation_Final.pptx</dc:title>
</cp:coreProperties>
</file>